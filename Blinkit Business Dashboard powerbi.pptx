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67" r:id="rId5"/>
    <p:sldId id="268" r:id="rId6"/>
    <p:sldId id="269" r:id="rId7"/>
    <p:sldId id="260" r:id="rId8"/>
    <p:sldId id="270" r:id="rId9"/>
    <p:sldId id="271" r:id="rId10"/>
    <p:sldId id="264" r:id="rId11"/>
    <p:sldId id="266" r:id="rId12"/>
    <p:sldId id="272" r:id="rId13"/>
    <p:sldId id="262" r:id="rId14"/>
    <p:sldId id="263" r:id="rId15"/>
    <p:sldId id="275" r:id="rId16"/>
    <p:sldId id="274" r:id="rId17"/>
    <p:sldId id="273" r:id="rId18"/>
    <p:sldId id="259" r:id="rId19"/>
  </p:sldIdLst>
  <p:sldSz cx="12192000" cy="6858000"/>
  <p:notesSz cx="6858000" cy="9144000"/>
  <p:embeddedFontLst>
    <p:embeddedFont>
      <p:font typeface="Bahnschrift" panose="020B0502040204020203" pitchFamily="34" charset="0"/>
      <p:regular r:id="rId21"/>
      <p:bold r:id="rId22"/>
    </p:embeddedFont>
    <p:embeddedFont>
      <p:font typeface="Baskerville Old Face" panose="02020602080505020303" pitchFamily="18" charset="0"/>
      <p:regular r:id="rId23"/>
    </p:embeddedFont>
    <p:embeddedFont>
      <p:font typeface="Lato Black" panose="020F0502020204030203" pitchFamily="34" charset="0"/>
      <p:bold r:id="rId24"/>
    </p:embeddedFont>
    <p:embeddedFont>
      <p:font typeface="Libre Baskerville" panose="02000000000000000000"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9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5291A-093F-442C-AC2E-29E0A260C866}" v="2" dt="2026-05-29T09:15:07.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THA VARLANI" userId="415e5cf4d8ded898" providerId="LiveId" clId="{86B5DBB8-8712-40AE-B020-C11CF66794A4}"/>
    <pc:docChg chg="modSld">
      <pc:chgData name="NISHTHA VARLANI" userId="415e5cf4d8ded898" providerId="LiveId" clId="{86B5DBB8-8712-40AE-B020-C11CF66794A4}" dt="2026-05-29T09:12:54.028" v="0" actId="20578"/>
      <pc:docMkLst>
        <pc:docMk/>
      </pc:docMkLst>
      <pc:sldChg chg="modSp">
        <pc:chgData name="NISHTHA VARLANI" userId="415e5cf4d8ded898" providerId="LiveId" clId="{86B5DBB8-8712-40AE-B020-C11CF66794A4}" dt="2026-05-29T09:12:54.028" v="0" actId="20578"/>
        <pc:sldMkLst>
          <pc:docMk/>
          <pc:sldMk cId="0" sldId="258"/>
        </pc:sldMkLst>
        <pc:spChg chg="mod">
          <ac:chgData name="NISHTHA VARLANI" userId="415e5cf4d8ded898" providerId="LiveId" clId="{86B5DBB8-8712-40AE-B020-C11CF66794A4}" dt="2026-05-29T09:12:54.028" v="0" actId="20578"/>
          <ac:spMkLst>
            <pc:docMk/>
            <pc:sldMk cId="0" sldId="258"/>
            <ac:spMk id="1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linkedin.com/in/nishtha-varlani-01122004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github.com/nishthavarlani-0104"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3" name="TextBox 2">
            <a:extLst>
              <a:ext uri="{FF2B5EF4-FFF2-40B4-BE49-F238E27FC236}">
                <a16:creationId xmlns:a16="http://schemas.microsoft.com/office/drawing/2014/main" id="{F7A6FC6F-C906-8A3A-24D2-4A28DBC8F855}"/>
              </a:ext>
            </a:extLst>
          </p:cNvPr>
          <p:cNvSpPr txBox="1"/>
          <p:nvPr/>
        </p:nvSpPr>
        <p:spPr>
          <a:xfrm>
            <a:off x="1764889" y="3900467"/>
            <a:ext cx="8662220" cy="2246769"/>
          </a:xfrm>
          <a:prstGeom prst="rect">
            <a:avLst/>
          </a:prstGeom>
          <a:noFill/>
        </p:spPr>
        <p:txBody>
          <a:bodyPr wrap="square">
            <a:spAutoFit/>
          </a:bodyPr>
          <a:lstStyle/>
          <a:p>
            <a:pPr algn="ctr">
              <a:buNone/>
            </a:pPr>
            <a:r>
              <a:rPr lang="en-IN" sz="2400" b="1" dirty="0" err="1">
                <a:solidFill>
                  <a:srgbClr val="FF0000"/>
                </a:solidFill>
                <a:latin typeface="Bahnschrift" panose="020B0502040204020203" pitchFamily="34" charset="0"/>
              </a:rPr>
              <a:t>BlinkIT</a:t>
            </a:r>
            <a:r>
              <a:rPr lang="en-IN" sz="2400" b="1" dirty="0">
                <a:solidFill>
                  <a:srgbClr val="FF0000"/>
                </a:solidFill>
                <a:latin typeface="Bahnschrift" panose="020B0502040204020203" pitchFamily="34" charset="0"/>
              </a:rPr>
              <a:t> Business Analytics Dashboard</a:t>
            </a:r>
          </a:p>
          <a:p>
            <a:pPr algn="ctr">
              <a:buNone/>
            </a:pPr>
            <a:r>
              <a:rPr lang="en-IN" sz="2400" b="1" dirty="0">
                <a:solidFill>
                  <a:srgbClr val="FF0000"/>
                </a:solidFill>
                <a:latin typeface="Bahnschrift" panose="020B0502040204020203" pitchFamily="34" charset="0"/>
              </a:rPr>
              <a:t>Sales &amp; Outlet Performance Analysis using Power BI</a:t>
            </a:r>
          </a:p>
          <a:p>
            <a:pPr algn="ctr">
              <a:buNone/>
            </a:pPr>
            <a:endParaRPr lang="en-IN" dirty="0">
              <a:solidFill>
                <a:srgbClr val="FF0000"/>
              </a:solidFill>
              <a:latin typeface="Bahnschrift" panose="020B0502040204020203" pitchFamily="34" charset="0"/>
            </a:endParaRPr>
          </a:p>
          <a:p>
            <a:pPr algn="ctr">
              <a:buNone/>
            </a:pPr>
            <a:endParaRPr lang="en-IN" dirty="0"/>
          </a:p>
          <a:p>
            <a:pPr algn="ctr">
              <a:buNone/>
            </a:pPr>
            <a:endParaRPr lang="en-IN" dirty="0"/>
          </a:p>
          <a:p>
            <a:pPr algn="ctr">
              <a:buNone/>
            </a:pPr>
            <a:r>
              <a:rPr lang="en-IN" sz="1800" b="1" dirty="0"/>
              <a:t>Presented by:</a:t>
            </a:r>
            <a:br>
              <a:rPr lang="en-IN" sz="1800" dirty="0"/>
            </a:br>
            <a:r>
              <a:rPr lang="en-IN" sz="1800" b="1" dirty="0"/>
              <a:t>Nishtha </a:t>
            </a:r>
            <a:r>
              <a:rPr lang="en-IN" sz="1800" b="1" dirty="0" err="1"/>
              <a:t>Varlani</a:t>
            </a:r>
            <a:endParaRPr lang="en-IN" sz="1800" b="1" dirty="0"/>
          </a:p>
          <a:p>
            <a:pPr algn="ctr">
              <a:buNone/>
            </a:pP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1284855" cy="258528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IN" sz="1800" b="1" i="0" u="none" strike="noStrike" cap="none" dirty="0">
                <a:solidFill>
                  <a:schemeClr val="dk1"/>
                </a:solidFill>
                <a:latin typeface="Calibri"/>
                <a:ea typeface="Calibri"/>
                <a:cs typeface="Calibri"/>
                <a:sym typeface="Calibri"/>
              </a:rPr>
              <a:t>Background </a:t>
            </a:r>
            <a:r>
              <a:rPr lang="en-IN" sz="1800" b="1" dirty="0">
                <a:solidFill>
                  <a:schemeClr val="dk1"/>
                </a:solidFill>
                <a:latin typeface="Calibri"/>
                <a:ea typeface="Calibri"/>
                <a:cs typeface="Calibri"/>
                <a:sym typeface="Calibri"/>
              </a:rPr>
              <a:t>: </a:t>
            </a:r>
            <a:r>
              <a:rPr lang="en-IN" sz="1800" b="1" dirty="0"/>
              <a:t>M.Sc. Physics </a:t>
            </a:r>
            <a:r>
              <a:rPr lang="en-IN" sz="1800" dirty="0" err="1"/>
              <a:t>Khandesh</a:t>
            </a:r>
            <a:r>
              <a:rPr lang="en-IN" sz="1800" dirty="0"/>
              <a:t> Education Society, East Pratap College, </a:t>
            </a:r>
            <a:r>
              <a:rPr lang="en-IN" sz="1800" dirty="0" err="1"/>
              <a:t>Amalner</a:t>
            </a:r>
            <a:endParaRPr lang="en-IN" sz="1800" dirty="0"/>
          </a:p>
          <a:p>
            <a:pPr marR="0" lvl="0" algn="l" rtl="0">
              <a:spcBef>
                <a:spcPts val="0"/>
              </a:spcBef>
              <a:spcAft>
                <a:spcPts val="0"/>
              </a:spcAft>
              <a:buClr>
                <a:schemeClr val="dk1"/>
              </a:buClr>
              <a:buSzPts val="1800"/>
            </a:pPr>
            <a:endParaRPr sz="1800" b="1" i="0" u="none" strike="noStrike" cap="none" dirty="0">
              <a:solidFill>
                <a:schemeClr val="dk1"/>
              </a:solidFill>
              <a:latin typeface="Calibri"/>
              <a:ea typeface="Calibri"/>
              <a:cs typeface="Calibri"/>
              <a:sym typeface="Calibri"/>
            </a:endParaRPr>
          </a:p>
          <a:p>
            <a:pPr marL="285750" lvl="0" indent="-285750">
              <a:buClr>
                <a:schemeClr val="dk1"/>
              </a:buClr>
              <a:buSzPts val="1800"/>
              <a:buFont typeface="Arial"/>
              <a:buChar char="•"/>
            </a:pPr>
            <a:r>
              <a:rPr lang="en-IN" sz="1800" b="1" i="0" u="none" strike="noStrike" cap="none" dirty="0">
                <a:solidFill>
                  <a:schemeClr val="dk1"/>
                </a:solidFill>
                <a:latin typeface="Calibri"/>
                <a:ea typeface="Calibri"/>
                <a:cs typeface="Calibri"/>
                <a:sym typeface="Calibri"/>
              </a:rPr>
              <a:t>Why </a:t>
            </a:r>
            <a:r>
              <a:rPr lang="en-IN" sz="1800" b="1" dirty="0">
                <a:solidFill>
                  <a:schemeClr val="dk1"/>
                </a:solidFill>
                <a:latin typeface="Calibri"/>
                <a:ea typeface="Calibri"/>
                <a:cs typeface="Calibri"/>
                <a:sym typeface="Calibri"/>
              </a:rPr>
              <a:t>I</a:t>
            </a:r>
            <a:r>
              <a:rPr lang="en-IN" sz="1800" b="1" i="0" u="none" strike="noStrike" cap="none" dirty="0">
                <a:solidFill>
                  <a:schemeClr val="dk1"/>
                </a:solidFill>
                <a:latin typeface="Calibri"/>
                <a:ea typeface="Calibri"/>
                <a:cs typeface="Calibri"/>
                <a:sym typeface="Calibri"/>
              </a:rPr>
              <a:t> want to learn Data Science : </a:t>
            </a:r>
            <a:r>
              <a:rPr lang="en-IN" sz="1800" dirty="0"/>
              <a:t>I want to learn Data Science because I enjoy analytical problem-solving and working with technology. My Physics background has developed my logical and mathematical thinking, and Data Science allows me to apply those skills to real-world problems.</a:t>
            </a:r>
            <a:endParaRPr lang="en-IN" sz="1800" b="1" i="0" u="none" strike="noStrike" cap="none"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endParaRPr sz="1800" b="1" i="0"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dirty="0">
                <a:solidFill>
                  <a:schemeClr val="dk1"/>
                </a:solidFill>
                <a:latin typeface="Calibri"/>
                <a:ea typeface="Calibri"/>
                <a:cs typeface="Calibri"/>
                <a:sym typeface="Calibri"/>
              </a:rPr>
              <a:t>E</a:t>
            </a:r>
            <a:r>
              <a:rPr lang="en-IN" sz="1800" b="1" i="0" u="none" strike="noStrike" cap="none" dirty="0">
                <a:solidFill>
                  <a:schemeClr val="dk1"/>
                </a:solidFill>
                <a:latin typeface="Calibri"/>
                <a:ea typeface="Calibri"/>
                <a:cs typeface="Calibri"/>
                <a:sym typeface="Calibri"/>
              </a:rPr>
              <a:t>xperience : Fresher</a:t>
            </a:r>
          </a:p>
          <a:p>
            <a:pPr marR="0" lvl="0" algn="l" rtl="0">
              <a:spcBef>
                <a:spcPts val="0"/>
              </a:spcBef>
              <a:spcAft>
                <a:spcPts val="0"/>
              </a:spcAft>
              <a:buClr>
                <a:schemeClr val="dk1"/>
              </a:buClr>
              <a:buSzPts val="1800"/>
            </a:pPr>
            <a:endParaRPr sz="1800" b="1" i="0" u="none" strike="noStrike" cap="none" dirty="0">
              <a:solidFill>
                <a:schemeClr val="dk1"/>
              </a:solidFill>
              <a:latin typeface="Calibri"/>
              <a:ea typeface="Calibri"/>
              <a:cs typeface="Calibri"/>
              <a:sym typeface="Calibri"/>
            </a:endParaRPr>
          </a:p>
          <a:p>
            <a:pPr marL="285750" lvl="0" indent="-285750">
              <a:buClr>
                <a:schemeClr val="dk1"/>
              </a:buClr>
              <a:buSzPts val="1800"/>
              <a:buFont typeface="Calibri"/>
              <a:buChar char="•"/>
            </a:pPr>
            <a:r>
              <a:rPr lang="en-IN" sz="1800" b="1" dirty="0" err="1">
                <a:solidFill>
                  <a:schemeClr val="dk1"/>
                </a:solidFill>
                <a:latin typeface="Calibri"/>
                <a:ea typeface="Calibri"/>
                <a:cs typeface="Calibri"/>
                <a:sym typeface="Calibri"/>
              </a:rPr>
              <a:t>linkedin</a:t>
            </a:r>
            <a:r>
              <a:rPr lang="en-IN" sz="1800" b="1" dirty="0">
                <a:solidFill>
                  <a:schemeClr val="dk1"/>
                </a:solidFill>
                <a:latin typeface="Calibri"/>
                <a:ea typeface="Calibri"/>
                <a:cs typeface="Calibri"/>
                <a:sym typeface="Calibri"/>
              </a:rPr>
              <a:t> and </a:t>
            </a:r>
            <a:r>
              <a:rPr lang="en-IN" sz="1800" b="1" dirty="0" err="1">
                <a:solidFill>
                  <a:schemeClr val="dk1"/>
                </a:solidFill>
                <a:latin typeface="Calibri"/>
                <a:ea typeface="Calibri"/>
                <a:cs typeface="Calibri"/>
                <a:sym typeface="Calibri"/>
              </a:rPr>
              <a:t>github</a:t>
            </a:r>
            <a:r>
              <a:rPr lang="en-IN" sz="1800" b="1" dirty="0">
                <a:solidFill>
                  <a:schemeClr val="dk1"/>
                </a:solidFill>
                <a:latin typeface="Calibri"/>
                <a:ea typeface="Calibri"/>
                <a:cs typeface="Calibri"/>
                <a:sym typeface="Calibri"/>
              </a:rPr>
              <a:t> profile </a:t>
            </a:r>
            <a:r>
              <a:rPr lang="en-IN" sz="1800" b="1" dirty="0" err="1">
                <a:solidFill>
                  <a:schemeClr val="dk1"/>
                </a:solidFill>
                <a:latin typeface="Calibri"/>
                <a:ea typeface="Calibri"/>
                <a:cs typeface="Calibri"/>
                <a:sym typeface="Calibri"/>
              </a:rPr>
              <a:t>urls</a:t>
            </a:r>
            <a:r>
              <a:rPr lang="en-IN" sz="1800" b="1" dirty="0">
                <a:solidFill>
                  <a:schemeClr val="dk1"/>
                </a:solidFill>
                <a:latin typeface="Calibri"/>
                <a:ea typeface="Calibri"/>
                <a:cs typeface="Calibri"/>
                <a:sym typeface="Calibri"/>
              </a:rPr>
              <a:t> : </a:t>
            </a:r>
            <a:r>
              <a:rPr lang="en-IN" sz="1800" b="1" dirty="0">
                <a:solidFill>
                  <a:schemeClr val="dk1"/>
                </a:solidFill>
                <a:latin typeface="Calibri"/>
                <a:ea typeface="Calibri"/>
                <a:cs typeface="Calibri"/>
                <a:sym typeface="Calibri"/>
                <a:hlinkClick r:id="rId3" action="ppaction://hlinkfile"/>
              </a:rPr>
              <a:t>linkedin.com/in/nishtha-varlani-01122004n </a:t>
            </a:r>
            <a:r>
              <a:rPr lang="en-IN" sz="1800" b="1" dirty="0">
                <a:solidFill>
                  <a:schemeClr val="dk1"/>
                </a:solidFill>
                <a:latin typeface="Calibri"/>
                <a:ea typeface="Calibri"/>
                <a:cs typeface="Calibri"/>
                <a:sym typeface="Calibri"/>
              </a:rPr>
              <a:t>&amp;</a:t>
            </a:r>
            <a:r>
              <a:rPr lang="en-IN" sz="1800" b="1" dirty="0">
                <a:solidFill>
                  <a:schemeClr val="dk1"/>
                </a:solidFill>
                <a:latin typeface="Calibri"/>
                <a:ea typeface="Calibri"/>
                <a:cs typeface="Calibri"/>
                <a:sym typeface="Calibri"/>
                <a:hlinkClick r:id="rId4" action="ppaction://hlinkfile"/>
              </a:rPr>
              <a:t> github.com/nishthavarlani-0104</a:t>
            </a:r>
            <a:endParaRPr sz="1800" b="1"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(This should be the PPT flow)  </a:t>
            </a:r>
            <a:endParaRPr b="1" dirty="0">
              <a:solidFill>
                <a:srgbClr val="FF0000"/>
              </a:solidFill>
            </a:endParaRPr>
          </a:p>
        </p:txBody>
      </p:sp>
      <p:sp>
        <p:nvSpPr>
          <p:cNvPr id="111" name="Google Shape;111;p4"/>
          <p:cNvSpPr txBox="1">
            <a:spLocks noGrp="1"/>
          </p:cNvSpPr>
          <p:nvPr>
            <p:ph type="body" idx="1"/>
          </p:nvPr>
        </p:nvSpPr>
        <p:spPr>
          <a:xfrm>
            <a:off x="454742" y="1166837"/>
            <a:ext cx="10515600" cy="4926550"/>
          </a:xfrm>
          <a:prstGeom prst="rect">
            <a:avLst/>
          </a:prstGeom>
          <a:noFill/>
          <a:ln>
            <a:noFill/>
          </a:ln>
        </p:spPr>
        <p:txBody>
          <a:bodyPr spcFirstLastPara="1" wrap="square" lIns="91425" tIns="45700" rIns="91425" bIns="45700" anchor="t" anchorCtr="0">
            <a:normAutofit fontScale="62500" lnSpcReduction="20000"/>
          </a:bodyPr>
          <a:lstStyle/>
          <a:p>
            <a:pPr marL="114300" lvl="0" indent="0">
              <a:buNone/>
            </a:pPr>
            <a:endParaRPr lang="en-IN" dirty="0"/>
          </a:p>
          <a:p>
            <a:pPr lvl="0"/>
            <a:r>
              <a:rPr lang="en-IN" b="1" dirty="0"/>
              <a:t>Business Problem Statement</a:t>
            </a:r>
            <a:endParaRPr lang="en-IN" dirty="0"/>
          </a:p>
          <a:p>
            <a:pPr lvl="0"/>
            <a:r>
              <a:rPr lang="en-IN" b="1" dirty="0"/>
              <a:t>Project Objectives</a:t>
            </a:r>
            <a:endParaRPr lang="en-IN" dirty="0"/>
          </a:p>
          <a:p>
            <a:pPr lvl="0"/>
            <a:r>
              <a:rPr lang="en-IN" b="1" dirty="0"/>
              <a:t>Dataset Overview &amp; Data Source</a:t>
            </a:r>
            <a:endParaRPr lang="en-IN" dirty="0"/>
          </a:p>
          <a:p>
            <a:pPr lvl="0"/>
            <a:r>
              <a:rPr lang="en-IN" b="1" dirty="0"/>
              <a:t>Business Requirements &amp; Key Analysis Questions</a:t>
            </a:r>
            <a:endParaRPr lang="en-IN" dirty="0"/>
          </a:p>
          <a:p>
            <a:pPr lvl="0"/>
            <a:r>
              <a:rPr lang="en-IN" b="1" dirty="0"/>
              <a:t>Data Understanding &amp; Data Preparation</a:t>
            </a:r>
            <a:endParaRPr lang="en-IN" dirty="0"/>
          </a:p>
          <a:p>
            <a:pPr lvl="0"/>
            <a:r>
              <a:rPr lang="en-IN" b="1" dirty="0"/>
              <a:t>Data Cleaning &amp; Transformation using Power Query</a:t>
            </a:r>
            <a:endParaRPr lang="en-IN" dirty="0"/>
          </a:p>
          <a:p>
            <a:pPr lvl="0"/>
            <a:r>
              <a:rPr lang="en-IN" b="1" dirty="0"/>
              <a:t>Data Model &amp; Relationships</a:t>
            </a:r>
            <a:endParaRPr lang="en-IN" dirty="0"/>
          </a:p>
          <a:p>
            <a:pPr lvl="0"/>
            <a:r>
              <a:rPr lang="en-IN" b="1" dirty="0"/>
              <a:t>DAX Measures &amp; Calculated Columns</a:t>
            </a:r>
            <a:endParaRPr lang="en-IN" dirty="0"/>
          </a:p>
          <a:p>
            <a:pPr lvl="0"/>
            <a:r>
              <a:rPr lang="en-IN" b="1" dirty="0"/>
              <a:t>Dashboard Design &amp; Visualizations</a:t>
            </a:r>
            <a:endParaRPr lang="en-IN" dirty="0"/>
          </a:p>
          <a:p>
            <a:pPr lvl="0"/>
            <a:r>
              <a:rPr lang="en-IN" b="1" dirty="0"/>
              <a:t>Key Business Insights &amp; Findings</a:t>
            </a:r>
            <a:endParaRPr lang="en-IN" dirty="0"/>
          </a:p>
          <a:p>
            <a:pPr lvl="0"/>
            <a:r>
              <a:rPr lang="en-IN" b="1" dirty="0"/>
              <a:t>Key Conclusion &amp; Recommendations</a:t>
            </a:r>
            <a:endParaRPr lang="en-IN" dirty="0"/>
          </a:p>
          <a:p>
            <a:pPr lvl="0"/>
            <a:r>
              <a:rPr lang="en-IN" b="1" dirty="0"/>
              <a:t>Challenges Faced During the Project</a:t>
            </a:r>
            <a:endParaRPr lang="en-IN" dirty="0"/>
          </a:p>
          <a:p>
            <a:pPr lvl="0"/>
            <a:r>
              <a:rPr lang="en-IN" b="1" dirty="0"/>
              <a:t>Future Improvements</a:t>
            </a:r>
            <a:endParaRPr lang="en-IN" dirty="0"/>
          </a:p>
          <a:p>
            <a:pPr lvl="0"/>
            <a:r>
              <a:rPr lang="en-IN" b="1" dirty="0"/>
              <a:t>Q&amp;A</a:t>
            </a:r>
            <a:endParaRPr lang="en-IN" dirty="0"/>
          </a:p>
          <a:p>
            <a:pPr marL="228600" lvl="0" indent="-228600" algn="l" rtl="0">
              <a:lnSpc>
                <a:spcPct val="90000"/>
              </a:lnSpc>
              <a:spcBef>
                <a:spcPts val="1000"/>
              </a:spcBef>
              <a:spcAft>
                <a:spcPts val="0"/>
              </a:spcAft>
              <a:buClr>
                <a:schemeClr val="dk1"/>
              </a:buClr>
              <a:buSzPct val="100000"/>
              <a:buChar char="•"/>
            </a:pPr>
            <a:endParaRPr lang="en-IN" dirty="0"/>
          </a:p>
        </p:txBody>
      </p:sp>
      <p:sp>
        <p:nvSpPr>
          <p:cNvPr id="3" name="TextBox 2">
            <a:extLst>
              <a:ext uri="{FF2B5EF4-FFF2-40B4-BE49-F238E27FC236}">
                <a16:creationId xmlns:a16="http://schemas.microsoft.com/office/drawing/2014/main" id="{D2AC2FC6-6B2E-30C6-BDEC-E01E5577AFE4}"/>
              </a:ext>
            </a:extLst>
          </p:cNvPr>
          <p:cNvSpPr txBox="1"/>
          <p:nvPr/>
        </p:nvSpPr>
        <p:spPr>
          <a:xfrm>
            <a:off x="5712542" y="3356035"/>
            <a:ext cx="6115664" cy="738664"/>
          </a:xfrm>
          <a:prstGeom prst="rect">
            <a:avLst/>
          </a:prstGeom>
          <a:noFill/>
        </p:spPr>
        <p:txBody>
          <a:bodyPr wrap="square">
            <a:spAutoFit/>
          </a:bodyPr>
          <a:lstStyle/>
          <a:p>
            <a:pPr>
              <a:buNone/>
            </a:pPr>
            <a:r>
              <a:rPr lang="en-IN" sz="1400" b="1" dirty="0"/>
              <a:t>Tools &amp; Technologies:</a:t>
            </a:r>
            <a:br>
              <a:rPr lang="en-IN" sz="1400" dirty="0"/>
            </a:br>
            <a:r>
              <a:rPr lang="en-IN" sz="1400" dirty="0"/>
              <a:t>Power BI • Power Query • DAX • Data Visualization</a:t>
            </a:r>
          </a:p>
          <a:p>
            <a:pPr>
              <a:buNone/>
            </a:pPr>
            <a:r>
              <a:rPr lang="en-IN" sz="1400" b="1" dirty="0"/>
              <a:t>Project:</a:t>
            </a:r>
            <a:r>
              <a:rPr lang="en-IN" sz="1400" dirty="0"/>
              <a:t> Business Intelligence &amp; Data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4BED59E-BC08-E83D-F1CB-5263306CF715}"/>
              </a:ext>
            </a:extLst>
          </p:cNvPr>
          <p:cNvSpPr>
            <a:spLocks noGrp="1"/>
          </p:cNvSpPr>
          <p:nvPr>
            <p:ph type="body" idx="1"/>
          </p:nvPr>
        </p:nvSpPr>
        <p:spPr>
          <a:xfrm>
            <a:off x="838200" y="1385358"/>
            <a:ext cx="10515600" cy="4351338"/>
          </a:xfrm>
        </p:spPr>
        <p:txBody>
          <a:bodyPr>
            <a:normAutofit fontScale="85000" lnSpcReduction="20000"/>
          </a:bodyPr>
          <a:lstStyle/>
          <a:p>
            <a:pPr>
              <a:lnSpc>
                <a:spcPct val="150000"/>
              </a:lnSpc>
            </a:pPr>
            <a:r>
              <a:rPr lang="en-IN" dirty="0" err="1">
                <a:latin typeface="Baskerville Old Face" panose="02020602080505020303" pitchFamily="18" charset="0"/>
              </a:rPr>
              <a:t>BlinkIT</a:t>
            </a:r>
            <a:r>
              <a:rPr lang="en-IN" dirty="0">
                <a:latin typeface="Baskerville Old Face" panose="02020602080505020303" pitchFamily="18" charset="0"/>
              </a:rPr>
              <a:t> generates sales across multiple </a:t>
            </a:r>
            <a:r>
              <a:rPr lang="en-IN" b="1" dirty="0">
                <a:latin typeface="Baskerville Old Face" panose="02020602080505020303" pitchFamily="18" charset="0"/>
              </a:rPr>
              <a:t>product categories, outlet types, outlet sizes, and location tiers</a:t>
            </a:r>
            <a:r>
              <a:rPr lang="en-IN" dirty="0">
                <a:latin typeface="Baskerville Old Face" panose="02020602080505020303" pitchFamily="18" charset="0"/>
              </a:rPr>
              <a:t>. However, raw sales data alone does not provide an easy way to identify performance patterns.</a:t>
            </a:r>
          </a:p>
          <a:p>
            <a:pPr marL="114300" indent="0">
              <a:lnSpc>
                <a:spcPct val="150000"/>
              </a:lnSpc>
              <a:buNone/>
            </a:pPr>
            <a:endParaRPr lang="en-IN" dirty="0">
              <a:latin typeface="Baskerville Old Face" panose="02020602080505020303" pitchFamily="18" charset="0"/>
            </a:endParaRPr>
          </a:p>
          <a:p>
            <a:pPr>
              <a:lnSpc>
                <a:spcPct val="150000"/>
              </a:lnSpc>
            </a:pPr>
            <a:r>
              <a:rPr lang="en-IN" dirty="0">
                <a:latin typeface="Baskerville Old Face" panose="02020602080505020303" pitchFamily="18" charset="0"/>
              </a:rPr>
              <a:t>“The main problem was that the raw dataset contained a large amount of information, but it was difficult to directly understand the business performance from it. Therefore, I developed a Power BI dashboard to </a:t>
            </a:r>
            <a:r>
              <a:rPr lang="en-IN" dirty="0" err="1">
                <a:latin typeface="Baskerville Old Face" panose="02020602080505020303" pitchFamily="18" charset="0"/>
              </a:rPr>
              <a:t>analyze</a:t>
            </a:r>
            <a:r>
              <a:rPr lang="en-IN" dirty="0">
                <a:latin typeface="Baskerville Old Face" panose="02020602080505020303" pitchFamily="18" charset="0"/>
              </a:rPr>
              <a:t> sales across products, outlets and locations and convert the raw data into actionable insights.”</a:t>
            </a:r>
          </a:p>
          <a:p>
            <a:endParaRPr lang="en-IN" dirty="0"/>
          </a:p>
          <a:p>
            <a:endParaRPr lang="en-IN" dirty="0"/>
          </a:p>
        </p:txBody>
      </p:sp>
      <p:sp>
        <p:nvSpPr>
          <p:cNvPr id="6" name="Title 1">
            <a:extLst>
              <a:ext uri="{FF2B5EF4-FFF2-40B4-BE49-F238E27FC236}">
                <a16:creationId xmlns:a16="http://schemas.microsoft.com/office/drawing/2014/main" id="{F661577E-C34D-9C0C-34C5-7063CF58C4DA}"/>
              </a:ext>
            </a:extLst>
          </p:cNvPr>
          <p:cNvSpPr>
            <a:spLocks noGrp="1"/>
          </p:cNvSpPr>
          <p:nvPr>
            <p:ph type="title"/>
          </p:nvPr>
        </p:nvSpPr>
        <p:spPr>
          <a:xfrm rot="10800000" flipV="1">
            <a:off x="491340" y="543506"/>
            <a:ext cx="10515600" cy="1295400"/>
          </a:xfrm>
        </p:spPr>
        <p:txBody>
          <a:bodyPr>
            <a:normAutofit fontScale="90000"/>
          </a:bodyPr>
          <a:lstStyle/>
          <a:p>
            <a:pPr algn="ctr"/>
            <a:r>
              <a:rPr lang="en-IN" b="1" dirty="0">
                <a:solidFill>
                  <a:srgbClr val="FF0000"/>
                </a:solidFill>
                <a:latin typeface="Bahnschrift" panose="020B0502040204020203" pitchFamily="34" charset="0"/>
              </a:rPr>
              <a:t>Business Problem Statement</a:t>
            </a:r>
            <a:br>
              <a:rPr lang="en-IN" b="1" dirty="0">
                <a:solidFill>
                  <a:srgbClr val="FF0000"/>
                </a:solidFill>
                <a:latin typeface="Bahnschrift" panose="020B0502040204020203" pitchFamily="34" charset="0"/>
              </a:rPr>
            </a:br>
            <a:endParaRPr lang="en-IN" dirty="0">
              <a:solidFill>
                <a:srgbClr val="FF0000"/>
              </a:solidFill>
              <a:latin typeface="Bahnschrift" panose="020B0502040204020203" pitchFamily="34" charset="0"/>
            </a:endParaRPr>
          </a:p>
        </p:txBody>
      </p:sp>
    </p:spTree>
    <p:extLst>
      <p:ext uri="{BB962C8B-B14F-4D97-AF65-F5344CB8AC3E}">
        <p14:creationId xmlns:p14="http://schemas.microsoft.com/office/powerpoint/2010/main" val="855963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06BC5-E30B-CA0A-1646-35E968D90F03}"/>
              </a:ext>
            </a:extLst>
          </p:cNvPr>
          <p:cNvSpPr>
            <a:spLocks noGrp="1"/>
          </p:cNvSpPr>
          <p:nvPr>
            <p:ph type="title"/>
          </p:nvPr>
        </p:nvSpPr>
        <p:spPr>
          <a:xfrm>
            <a:off x="838200" y="914400"/>
            <a:ext cx="10515600" cy="220134"/>
          </a:xfrm>
        </p:spPr>
        <p:txBody>
          <a:bodyPr>
            <a:normAutofit fontScale="90000"/>
          </a:bodyPr>
          <a:lstStyle/>
          <a:p>
            <a:r>
              <a:rPr lang="en-IN" b="1" dirty="0">
                <a:solidFill>
                  <a:srgbClr val="FF0000"/>
                </a:solidFill>
              </a:rPr>
              <a:t>Project Objectives</a:t>
            </a:r>
            <a:br>
              <a:rPr lang="en-IN" b="1" dirty="0">
                <a:solidFill>
                  <a:srgbClr val="FF0000"/>
                </a:solidFill>
              </a:rPr>
            </a:br>
            <a:endParaRPr lang="en-IN" dirty="0">
              <a:solidFill>
                <a:srgbClr val="FF0000"/>
              </a:solidFill>
            </a:endParaRPr>
          </a:p>
        </p:txBody>
      </p:sp>
      <p:sp>
        <p:nvSpPr>
          <p:cNvPr id="3" name="Text Placeholder 2">
            <a:extLst>
              <a:ext uri="{FF2B5EF4-FFF2-40B4-BE49-F238E27FC236}">
                <a16:creationId xmlns:a16="http://schemas.microsoft.com/office/drawing/2014/main" id="{BD602504-CF1A-CA54-9D8F-D132D3A7F931}"/>
              </a:ext>
            </a:extLst>
          </p:cNvPr>
          <p:cNvSpPr>
            <a:spLocks noGrp="1"/>
          </p:cNvSpPr>
          <p:nvPr>
            <p:ph type="body" idx="1"/>
          </p:nvPr>
        </p:nvSpPr>
        <p:spPr>
          <a:xfrm>
            <a:off x="838200" y="1320801"/>
            <a:ext cx="10515600" cy="4856162"/>
          </a:xfrm>
        </p:spPr>
        <p:txBody>
          <a:bodyPr>
            <a:normAutofit fontScale="92500" lnSpcReduction="10000"/>
          </a:bodyPr>
          <a:lstStyle/>
          <a:p>
            <a:pPr lvl="0"/>
            <a:r>
              <a:rPr lang="en-IN" b="1" dirty="0" err="1">
                <a:latin typeface="Baskerville Old Face" panose="02020602080505020303" pitchFamily="18" charset="0"/>
                <a:cs typeface="Baloo Bhaijaan 2 SemiBold" pitchFamily="2" charset="-78"/>
              </a:rPr>
              <a:t>Analyze</a:t>
            </a:r>
            <a:r>
              <a:rPr lang="en-IN" b="1" dirty="0">
                <a:latin typeface="Baskerville Old Face" panose="02020602080505020303" pitchFamily="18" charset="0"/>
                <a:cs typeface="Baloo Bhaijaan 2 SemiBold" pitchFamily="2" charset="-78"/>
              </a:rPr>
              <a:t> overall sales performance</a:t>
            </a:r>
            <a:r>
              <a:rPr lang="en-IN" dirty="0">
                <a:latin typeface="Baskerville Old Face" panose="02020602080505020303" pitchFamily="18" charset="0"/>
                <a:cs typeface="Baloo Bhaijaan 2 SemiBold" pitchFamily="2" charset="-78"/>
              </a:rPr>
              <a:t> using key performance indicators.</a:t>
            </a:r>
          </a:p>
          <a:p>
            <a:pPr lvl="0"/>
            <a:r>
              <a:rPr lang="en-IN" dirty="0">
                <a:latin typeface="Baskerville Old Face" panose="02020602080505020303" pitchFamily="18" charset="0"/>
                <a:cs typeface="Baloo Bhaijaan 2 SemiBold" pitchFamily="2" charset="-78"/>
              </a:rPr>
              <a:t>Identify </a:t>
            </a:r>
            <a:r>
              <a:rPr lang="en-IN" b="1" dirty="0">
                <a:latin typeface="Baskerville Old Face" panose="02020602080505020303" pitchFamily="18" charset="0"/>
                <a:cs typeface="Baloo Bhaijaan 2 SemiBold" pitchFamily="2" charset="-78"/>
              </a:rPr>
              <a:t>top-performing product categories and items</a:t>
            </a:r>
            <a:r>
              <a:rPr lang="en-IN" dirty="0">
                <a:latin typeface="Baskerville Old Face" panose="02020602080505020303" pitchFamily="18" charset="0"/>
                <a:cs typeface="Baloo Bhaijaan 2 SemiBold" pitchFamily="2" charset="-78"/>
              </a:rPr>
              <a:t>.</a:t>
            </a:r>
          </a:p>
          <a:p>
            <a:pPr lvl="0"/>
            <a:r>
              <a:rPr lang="en-IN" dirty="0">
                <a:latin typeface="Baskerville Old Face" panose="02020602080505020303" pitchFamily="18" charset="0"/>
                <a:cs typeface="Baloo Bhaijaan 2 SemiBold" pitchFamily="2" charset="-78"/>
              </a:rPr>
              <a:t>Compare sales across different </a:t>
            </a:r>
            <a:r>
              <a:rPr lang="en-IN" b="1" dirty="0">
                <a:latin typeface="Baskerville Old Face" panose="02020602080505020303" pitchFamily="18" charset="0"/>
                <a:cs typeface="Baloo Bhaijaan 2 SemiBold" pitchFamily="2" charset="-78"/>
              </a:rPr>
              <a:t>outlet types</a:t>
            </a:r>
            <a:r>
              <a:rPr lang="en-IN" dirty="0">
                <a:latin typeface="Baskerville Old Face" panose="02020602080505020303" pitchFamily="18" charset="0"/>
                <a:cs typeface="Baloo Bhaijaan 2 SemiBold" pitchFamily="2" charset="-78"/>
              </a:rPr>
              <a:t>.</a:t>
            </a:r>
          </a:p>
          <a:p>
            <a:pPr lvl="0"/>
            <a:r>
              <a:rPr lang="en-IN" dirty="0" err="1">
                <a:latin typeface="Baskerville Old Face" panose="02020602080505020303" pitchFamily="18" charset="0"/>
                <a:cs typeface="Baloo Bhaijaan 2 SemiBold" pitchFamily="2" charset="-78"/>
              </a:rPr>
              <a:t>Analyze</a:t>
            </a:r>
            <a:r>
              <a:rPr lang="en-IN" dirty="0">
                <a:latin typeface="Baskerville Old Face" panose="02020602080505020303" pitchFamily="18" charset="0"/>
                <a:cs typeface="Baloo Bhaijaan 2 SemiBold" pitchFamily="2" charset="-78"/>
              </a:rPr>
              <a:t> sales across </a:t>
            </a:r>
            <a:r>
              <a:rPr lang="en-IN" b="1" dirty="0">
                <a:latin typeface="Baskerville Old Face" panose="02020602080505020303" pitchFamily="18" charset="0"/>
                <a:cs typeface="Baloo Bhaijaan 2 SemiBold" pitchFamily="2" charset="-78"/>
              </a:rPr>
              <a:t>location tiers</a:t>
            </a:r>
            <a:r>
              <a:rPr lang="en-IN" dirty="0">
                <a:latin typeface="Baskerville Old Face" panose="02020602080505020303" pitchFamily="18" charset="0"/>
                <a:cs typeface="Baloo Bhaijaan 2 SemiBold" pitchFamily="2" charset="-78"/>
              </a:rPr>
              <a:t>.</a:t>
            </a:r>
          </a:p>
          <a:p>
            <a:pPr lvl="0"/>
            <a:r>
              <a:rPr lang="en-IN" dirty="0">
                <a:latin typeface="Baskerville Old Face" panose="02020602080505020303" pitchFamily="18" charset="0"/>
                <a:cs typeface="Baloo Bhaijaan 2 SemiBold" pitchFamily="2" charset="-78"/>
              </a:rPr>
              <a:t>Understand the distribution of sales by </a:t>
            </a:r>
            <a:r>
              <a:rPr lang="en-IN" b="1" dirty="0">
                <a:latin typeface="Baskerville Old Face" panose="02020602080505020303" pitchFamily="18" charset="0"/>
                <a:cs typeface="Baloo Bhaijaan 2 SemiBold" pitchFamily="2" charset="-78"/>
              </a:rPr>
              <a:t>fat content</a:t>
            </a:r>
            <a:r>
              <a:rPr lang="en-IN" dirty="0">
                <a:latin typeface="Baskerville Old Face" panose="02020602080505020303" pitchFamily="18" charset="0"/>
                <a:cs typeface="Baloo Bhaijaan 2 SemiBold" pitchFamily="2" charset="-78"/>
              </a:rPr>
              <a:t>.</a:t>
            </a:r>
          </a:p>
          <a:p>
            <a:pPr lvl="0"/>
            <a:r>
              <a:rPr lang="en-IN" dirty="0" err="1">
                <a:latin typeface="Baskerville Old Face" panose="02020602080505020303" pitchFamily="18" charset="0"/>
                <a:cs typeface="Baloo Bhaijaan 2 SemiBold" pitchFamily="2" charset="-78"/>
              </a:rPr>
              <a:t>Analyze</a:t>
            </a:r>
            <a:r>
              <a:rPr lang="en-IN" dirty="0">
                <a:latin typeface="Baskerville Old Face" panose="02020602080505020303" pitchFamily="18" charset="0"/>
                <a:cs typeface="Baloo Bhaijaan 2 SemiBold" pitchFamily="2" charset="-78"/>
              </a:rPr>
              <a:t> </a:t>
            </a:r>
            <a:r>
              <a:rPr lang="en-IN" b="1" dirty="0">
                <a:latin typeface="Baskerville Old Face" panose="02020602080505020303" pitchFamily="18" charset="0"/>
                <a:cs typeface="Baloo Bhaijaan 2 SemiBold" pitchFamily="2" charset="-78"/>
              </a:rPr>
              <a:t>item visibility versus sales</a:t>
            </a:r>
            <a:r>
              <a:rPr lang="en-IN" dirty="0">
                <a:latin typeface="Baskerville Old Face" panose="02020602080505020303" pitchFamily="18" charset="0"/>
                <a:cs typeface="Baloo Bhaijaan 2 SemiBold" pitchFamily="2" charset="-78"/>
              </a:rPr>
              <a:t>.</a:t>
            </a:r>
          </a:p>
          <a:p>
            <a:pPr lvl="0"/>
            <a:r>
              <a:rPr lang="en-IN" dirty="0">
                <a:latin typeface="Baskerville Old Face" panose="02020602080505020303" pitchFamily="18" charset="0"/>
                <a:cs typeface="Baloo Bhaijaan 2 SemiBold" pitchFamily="2" charset="-78"/>
              </a:rPr>
              <a:t>Evaluate </a:t>
            </a:r>
            <a:r>
              <a:rPr lang="en-IN" b="1" dirty="0">
                <a:latin typeface="Baskerville Old Face" panose="02020602080505020303" pitchFamily="18" charset="0"/>
                <a:cs typeface="Baloo Bhaijaan 2 SemiBold" pitchFamily="2" charset="-78"/>
              </a:rPr>
              <a:t>average item ratings</a:t>
            </a:r>
            <a:r>
              <a:rPr lang="en-IN" dirty="0">
                <a:latin typeface="Baskerville Old Face" panose="02020602080505020303" pitchFamily="18" charset="0"/>
                <a:cs typeface="Baloo Bhaijaan 2 SemiBold" pitchFamily="2" charset="-78"/>
              </a:rPr>
              <a:t> as a customer satisfaction indicator.</a:t>
            </a:r>
          </a:p>
          <a:p>
            <a:pPr lvl="0"/>
            <a:r>
              <a:rPr lang="en-IN" dirty="0" err="1">
                <a:latin typeface="Baskerville Old Face" panose="02020602080505020303" pitchFamily="18" charset="0"/>
                <a:cs typeface="Baloo Bhaijaan 2 SemiBold" pitchFamily="2" charset="-78"/>
              </a:rPr>
              <a:t>Analyze</a:t>
            </a:r>
            <a:r>
              <a:rPr lang="en-IN" dirty="0">
                <a:latin typeface="Baskerville Old Face" panose="02020602080505020303" pitchFamily="18" charset="0"/>
                <a:cs typeface="Baloo Bhaijaan 2 SemiBold" pitchFamily="2" charset="-78"/>
              </a:rPr>
              <a:t> sales according to </a:t>
            </a:r>
            <a:r>
              <a:rPr lang="en-IN" b="1" dirty="0">
                <a:latin typeface="Baskerville Old Face" panose="02020602080505020303" pitchFamily="18" charset="0"/>
                <a:cs typeface="Baloo Bhaijaan 2 SemiBold" pitchFamily="2" charset="-78"/>
              </a:rPr>
              <a:t>outlet establishment year</a:t>
            </a:r>
            <a:r>
              <a:rPr lang="en-IN" dirty="0">
                <a:latin typeface="Baskerville Old Face" panose="02020602080505020303" pitchFamily="18" charset="0"/>
                <a:cs typeface="Baloo Bhaijaan 2 SemiBold" pitchFamily="2" charset="-78"/>
              </a:rPr>
              <a:t>.</a:t>
            </a:r>
          </a:p>
          <a:p>
            <a:pPr lvl="0"/>
            <a:r>
              <a:rPr lang="en-IN" dirty="0">
                <a:latin typeface="Baskerville Old Face" panose="02020602080505020303" pitchFamily="18" charset="0"/>
                <a:cs typeface="Baloo Bhaijaan 2 SemiBold" pitchFamily="2" charset="-78"/>
              </a:rPr>
              <a:t>Build an </a:t>
            </a:r>
            <a:r>
              <a:rPr lang="en-IN" b="1" dirty="0">
                <a:latin typeface="Baskerville Old Face" panose="02020602080505020303" pitchFamily="18" charset="0"/>
                <a:cs typeface="Baloo Bhaijaan 2 SemiBold" pitchFamily="2" charset="-78"/>
              </a:rPr>
              <a:t>interactive Power BI dashboard</a:t>
            </a:r>
            <a:r>
              <a:rPr lang="en-IN" dirty="0">
                <a:latin typeface="Baskerville Old Face" panose="02020602080505020303" pitchFamily="18" charset="0"/>
                <a:cs typeface="Baloo Bhaijaan 2 SemiBold" pitchFamily="2" charset="-78"/>
              </a:rPr>
              <a:t> using slicers and drill-through.</a:t>
            </a:r>
          </a:p>
          <a:p>
            <a:pPr lvl="0"/>
            <a:r>
              <a:rPr lang="en-IN" dirty="0">
                <a:latin typeface="Baskerville Old Face" panose="02020602080505020303" pitchFamily="18" charset="0"/>
                <a:cs typeface="Baloo Bhaijaan 2 SemiBold" pitchFamily="2" charset="-78"/>
              </a:rPr>
              <a:t>Generate </a:t>
            </a:r>
            <a:r>
              <a:rPr lang="en-IN" b="1" dirty="0">
                <a:latin typeface="Baskerville Old Face" panose="02020602080505020303" pitchFamily="18" charset="0"/>
                <a:cs typeface="Baloo Bhaijaan 2 SemiBold" pitchFamily="2" charset="-78"/>
              </a:rPr>
              <a:t>business insights and recommendations</a:t>
            </a:r>
            <a:r>
              <a:rPr lang="en-IN" dirty="0">
                <a:latin typeface="Baskerville Old Face" panose="02020602080505020303" pitchFamily="18" charset="0"/>
                <a:cs typeface="Baloo Bhaijaan 2 SemiBold" pitchFamily="2" charset="-78"/>
              </a:rPr>
              <a:t> from the analysis.</a:t>
            </a:r>
          </a:p>
          <a:p>
            <a:endParaRPr lang="en-IN" dirty="0"/>
          </a:p>
        </p:txBody>
      </p:sp>
    </p:spTree>
    <p:extLst>
      <p:ext uri="{BB962C8B-B14F-4D97-AF65-F5344CB8AC3E}">
        <p14:creationId xmlns:p14="http://schemas.microsoft.com/office/powerpoint/2010/main" val="322784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2EACF-7A2D-1229-4060-13D7BCBD44BF}"/>
              </a:ext>
            </a:extLst>
          </p:cNvPr>
          <p:cNvSpPr>
            <a:spLocks noGrp="1"/>
          </p:cNvSpPr>
          <p:nvPr>
            <p:ph type="ctrTitle"/>
          </p:nvPr>
        </p:nvSpPr>
        <p:spPr>
          <a:xfrm>
            <a:off x="406946" y="477837"/>
            <a:ext cx="9144000" cy="621770"/>
          </a:xfrm>
        </p:spPr>
        <p:txBody>
          <a:bodyPr>
            <a:noAutofit/>
          </a:bodyPr>
          <a:lstStyle/>
          <a:p>
            <a:pPr algn="l"/>
            <a:r>
              <a:rPr lang="en-IN" sz="4000" b="1" dirty="0">
                <a:solidFill>
                  <a:srgbClr val="FF0000"/>
                </a:solidFill>
                <a:latin typeface="Bahnschrift" panose="020B0502040204020203" pitchFamily="34" charset="0"/>
              </a:rPr>
              <a:t>BUSINESS REQUIREMENTS</a:t>
            </a:r>
          </a:p>
        </p:txBody>
      </p:sp>
      <p:sp>
        <p:nvSpPr>
          <p:cNvPr id="5" name="TextBox 4">
            <a:extLst>
              <a:ext uri="{FF2B5EF4-FFF2-40B4-BE49-F238E27FC236}">
                <a16:creationId xmlns:a16="http://schemas.microsoft.com/office/drawing/2014/main" id="{AE7F1E58-3754-D722-0DDF-AF3CA8AF49D8}"/>
              </a:ext>
            </a:extLst>
          </p:cNvPr>
          <p:cNvSpPr txBox="1"/>
          <p:nvPr/>
        </p:nvSpPr>
        <p:spPr>
          <a:xfrm>
            <a:off x="653571" y="1384742"/>
            <a:ext cx="10244666" cy="4401205"/>
          </a:xfrm>
          <a:prstGeom prst="rect">
            <a:avLst/>
          </a:prstGeom>
          <a:noFill/>
        </p:spPr>
        <p:txBody>
          <a:bodyPr wrap="square">
            <a:spAutoFit/>
          </a:bodyPr>
          <a:lstStyle/>
          <a:p>
            <a:pPr>
              <a:buNone/>
            </a:pPr>
            <a:r>
              <a:rPr lang="en-IN" sz="2000" b="1" dirty="0">
                <a:latin typeface="Baskerville Old Face" panose="02020602080505020303" pitchFamily="18" charset="0"/>
              </a:rPr>
              <a:t>Sales Performance</a:t>
            </a:r>
            <a:endParaRPr lang="en-IN" sz="2000" dirty="0">
              <a:latin typeface="Baskerville Old Face" panose="02020602080505020303" pitchFamily="18" charset="0"/>
            </a:endParaRPr>
          </a:p>
          <a:p>
            <a:pPr marL="342900" lvl="0" indent="-342900">
              <a:buFont typeface="Arial" panose="020B0604020202020204" pitchFamily="34" charset="0"/>
              <a:buChar char="•"/>
            </a:pPr>
            <a:r>
              <a:rPr lang="en-IN" sz="2000" dirty="0">
                <a:latin typeface="Baskerville Old Face" panose="02020602080505020303" pitchFamily="18" charset="0"/>
              </a:rPr>
              <a:t>What is the </a:t>
            </a:r>
            <a:r>
              <a:rPr lang="en-IN" sz="2000" b="1" dirty="0">
                <a:latin typeface="Baskerville Old Face" panose="02020602080505020303" pitchFamily="18" charset="0"/>
              </a:rPr>
              <a:t>total sales</a:t>
            </a:r>
            <a:r>
              <a:rPr lang="en-IN" sz="2000" dirty="0">
                <a:latin typeface="Baskerville Old Face" panose="02020602080505020303" pitchFamily="18" charset="0"/>
              </a:rPr>
              <a:t>?</a:t>
            </a:r>
          </a:p>
          <a:p>
            <a:pPr marL="342900" lvl="0" indent="-342900">
              <a:buFont typeface="Arial" panose="020B0604020202020204" pitchFamily="34" charset="0"/>
              <a:buChar char="•"/>
            </a:pPr>
            <a:r>
              <a:rPr lang="en-IN" sz="2000" dirty="0">
                <a:latin typeface="Baskerville Old Face" panose="02020602080505020303" pitchFamily="18" charset="0"/>
              </a:rPr>
              <a:t>What is the </a:t>
            </a:r>
            <a:r>
              <a:rPr lang="en-IN" sz="2000" b="1" dirty="0">
                <a:latin typeface="Baskerville Old Face" panose="02020602080505020303" pitchFamily="18" charset="0"/>
              </a:rPr>
              <a:t>average sales per outlet</a:t>
            </a:r>
            <a:r>
              <a:rPr lang="en-IN" sz="2000" dirty="0">
                <a:latin typeface="Baskerville Old Face" panose="02020602080505020303" pitchFamily="18" charset="0"/>
              </a:rPr>
              <a:t>?</a:t>
            </a:r>
          </a:p>
          <a:p>
            <a:pPr marL="342900" lvl="0" indent="-342900">
              <a:buFont typeface="Arial" panose="020B0604020202020204" pitchFamily="34" charset="0"/>
              <a:buChar char="•"/>
            </a:pPr>
            <a:r>
              <a:rPr lang="en-IN" sz="2000" dirty="0">
                <a:latin typeface="Baskerville Old Face" panose="02020602080505020303" pitchFamily="18" charset="0"/>
              </a:rPr>
              <a:t>Which product categories generate the highest sales?</a:t>
            </a:r>
          </a:p>
          <a:p>
            <a:pPr>
              <a:buNone/>
            </a:pPr>
            <a:r>
              <a:rPr lang="en-IN" sz="2000" b="1" dirty="0">
                <a:latin typeface="Baskerville Old Face" panose="02020602080505020303" pitchFamily="18" charset="0"/>
              </a:rPr>
              <a:t>Product Analysis</a:t>
            </a:r>
            <a:endParaRPr lang="en-IN" sz="2000" dirty="0">
              <a:latin typeface="Baskerville Old Face" panose="02020602080505020303" pitchFamily="18" charset="0"/>
            </a:endParaRPr>
          </a:p>
          <a:p>
            <a:pPr marL="342900" lvl="0" indent="-342900">
              <a:buFont typeface="Arial" panose="020B0604020202020204" pitchFamily="34" charset="0"/>
              <a:buChar char="•"/>
            </a:pPr>
            <a:r>
              <a:rPr lang="en-IN" sz="2000" dirty="0">
                <a:latin typeface="Baskerville Old Face" panose="02020602080505020303" pitchFamily="18" charset="0"/>
              </a:rPr>
              <a:t>Which are the </a:t>
            </a:r>
            <a:r>
              <a:rPr lang="en-IN" sz="2000" b="1" dirty="0">
                <a:latin typeface="Baskerville Old Face" panose="02020602080505020303" pitchFamily="18" charset="0"/>
              </a:rPr>
              <a:t>Top 10 items by sales</a:t>
            </a:r>
            <a:r>
              <a:rPr lang="en-IN" sz="2000" dirty="0">
                <a:latin typeface="Baskerville Old Face" panose="02020602080505020303" pitchFamily="18" charset="0"/>
              </a:rPr>
              <a:t>?</a:t>
            </a:r>
          </a:p>
          <a:p>
            <a:pPr marL="342900" lvl="0" indent="-342900">
              <a:buFont typeface="Arial" panose="020B0604020202020204" pitchFamily="34" charset="0"/>
              <a:buChar char="•"/>
            </a:pPr>
            <a:r>
              <a:rPr lang="en-IN" sz="2000" dirty="0">
                <a:latin typeface="Baskerville Old Face" panose="02020602080505020303" pitchFamily="18" charset="0"/>
              </a:rPr>
              <a:t>How does </a:t>
            </a:r>
            <a:r>
              <a:rPr lang="en-IN" sz="2000" b="1" dirty="0">
                <a:latin typeface="Baskerville Old Face" panose="02020602080505020303" pitchFamily="18" charset="0"/>
              </a:rPr>
              <a:t>item visibility relate to sales</a:t>
            </a:r>
            <a:r>
              <a:rPr lang="en-IN" sz="2000" dirty="0">
                <a:latin typeface="Baskerville Old Face" panose="02020602080505020303" pitchFamily="18" charset="0"/>
              </a:rPr>
              <a:t>?</a:t>
            </a:r>
          </a:p>
          <a:p>
            <a:pPr marL="342900" lvl="0" indent="-342900">
              <a:buFont typeface="Arial" panose="020B0604020202020204" pitchFamily="34" charset="0"/>
              <a:buChar char="•"/>
            </a:pPr>
            <a:r>
              <a:rPr lang="en-IN" sz="2000" dirty="0">
                <a:latin typeface="Baskerville Old Face" panose="02020602080505020303" pitchFamily="18" charset="0"/>
              </a:rPr>
              <a:t>How do sales differ by </a:t>
            </a:r>
            <a:r>
              <a:rPr lang="en-IN" sz="2000" b="1" dirty="0">
                <a:latin typeface="Baskerville Old Face" panose="02020602080505020303" pitchFamily="18" charset="0"/>
              </a:rPr>
              <a:t>fat content</a:t>
            </a:r>
            <a:r>
              <a:rPr lang="en-IN" sz="2000" dirty="0">
                <a:latin typeface="Baskerville Old Face" panose="02020602080505020303" pitchFamily="18" charset="0"/>
              </a:rPr>
              <a:t>?</a:t>
            </a:r>
          </a:p>
          <a:p>
            <a:pPr>
              <a:buNone/>
            </a:pPr>
            <a:r>
              <a:rPr lang="en-IN" sz="2000" b="1" dirty="0">
                <a:latin typeface="Baskerville Old Face" panose="02020602080505020303" pitchFamily="18" charset="0"/>
              </a:rPr>
              <a:t>Outlet Analysis</a:t>
            </a:r>
            <a:endParaRPr lang="en-IN" sz="2000" dirty="0">
              <a:latin typeface="Baskerville Old Face" panose="02020602080505020303" pitchFamily="18" charset="0"/>
            </a:endParaRPr>
          </a:p>
          <a:p>
            <a:pPr marL="342900" lvl="0" indent="-342900">
              <a:buFont typeface="Arial" panose="020B0604020202020204" pitchFamily="34" charset="0"/>
              <a:buChar char="•"/>
            </a:pPr>
            <a:r>
              <a:rPr lang="en-IN" sz="2000" dirty="0">
                <a:latin typeface="Baskerville Old Face" panose="02020602080505020303" pitchFamily="18" charset="0"/>
              </a:rPr>
              <a:t>Which </a:t>
            </a:r>
            <a:r>
              <a:rPr lang="en-IN" sz="2000" b="1" dirty="0">
                <a:latin typeface="Baskerville Old Face" panose="02020602080505020303" pitchFamily="18" charset="0"/>
              </a:rPr>
              <a:t>outlet type</a:t>
            </a:r>
            <a:r>
              <a:rPr lang="en-IN" sz="2000" dirty="0">
                <a:latin typeface="Baskerville Old Face" panose="02020602080505020303" pitchFamily="18" charset="0"/>
              </a:rPr>
              <a:t> generates the highest sales?</a:t>
            </a:r>
          </a:p>
          <a:p>
            <a:pPr marL="342900" lvl="0" indent="-342900">
              <a:buFont typeface="Arial" panose="020B0604020202020204" pitchFamily="34" charset="0"/>
              <a:buChar char="•"/>
            </a:pPr>
            <a:r>
              <a:rPr lang="en-IN" sz="2000" dirty="0">
                <a:latin typeface="Baskerville Old Face" panose="02020602080505020303" pitchFamily="18" charset="0"/>
              </a:rPr>
              <a:t>Which </a:t>
            </a:r>
            <a:r>
              <a:rPr lang="en-IN" sz="2000" b="1" dirty="0">
                <a:latin typeface="Baskerville Old Face" panose="02020602080505020303" pitchFamily="18" charset="0"/>
              </a:rPr>
              <a:t>location tier</a:t>
            </a:r>
            <a:r>
              <a:rPr lang="en-IN" sz="2000" dirty="0">
                <a:latin typeface="Baskerville Old Face" panose="02020602080505020303" pitchFamily="18" charset="0"/>
              </a:rPr>
              <a:t> performs best?</a:t>
            </a:r>
          </a:p>
          <a:p>
            <a:pPr marL="342900" lvl="0" indent="-342900">
              <a:buFont typeface="Arial" panose="020B0604020202020204" pitchFamily="34" charset="0"/>
              <a:buChar char="•"/>
            </a:pPr>
            <a:r>
              <a:rPr lang="en-IN" sz="2000" dirty="0">
                <a:latin typeface="Baskerville Old Face" panose="02020602080505020303" pitchFamily="18" charset="0"/>
              </a:rPr>
              <a:t>Does outlet establishment year show any meaningful sales pattern?</a:t>
            </a:r>
          </a:p>
          <a:p>
            <a:pPr>
              <a:buNone/>
            </a:pPr>
            <a:r>
              <a:rPr lang="en-IN" sz="2000" b="1" dirty="0">
                <a:latin typeface="Baskerville Old Face" panose="02020602080505020303" pitchFamily="18" charset="0"/>
              </a:rPr>
              <a:t>Customer Perspective</a:t>
            </a:r>
            <a:endParaRPr lang="en-IN" sz="2000" dirty="0">
              <a:latin typeface="Baskerville Old Face" panose="02020602080505020303" pitchFamily="18" charset="0"/>
            </a:endParaRPr>
          </a:p>
          <a:p>
            <a:pPr marL="342900" lvl="0" indent="-342900">
              <a:buFont typeface="Arial" panose="020B0604020202020204" pitchFamily="34" charset="0"/>
              <a:buChar char="•"/>
            </a:pPr>
            <a:r>
              <a:rPr lang="en-IN" sz="2000" dirty="0">
                <a:latin typeface="Baskerville Old Face" panose="02020602080505020303" pitchFamily="18" charset="0"/>
              </a:rPr>
              <a:t>What is the </a:t>
            </a:r>
            <a:r>
              <a:rPr lang="en-IN" sz="2000" b="1" dirty="0">
                <a:latin typeface="Baskerville Old Face" panose="02020602080505020303" pitchFamily="18" charset="0"/>
              </a:rPr>
              <a:t>average item rating</a:t>
            </a:r>
            <a:r>
              <a:rPr lang="en-IN" sz="2000" dirty="0">
                <a:latin typeface="Baskerville Old Face" panose="02020602080505020303" pitchFamily="18" charset="0"/>
              </a:rPr>
              <a:t>?</a:t>
            </a:r>
          </a:p>
        </p:txBody>
      </p:sp>
    </p:spTree>
    <p:extLst>
      <p:ext uri="{BB962C8B-B14F-4D97-AF65-F5344CB8AC3E}">
        <p14:creationId xmlns:p14="http://schemas.microsoft.com/office/powerpoint/2010/main" val="3878488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BA4523-6749-998E-F65C-6D108981CECB}"/>
              </a:ext>
            </a:extLst>
          </p:cNvPr>
          <p:cNvPicPr>
            <a:picLocks noChangeAspect="1"/>
          </p:cNvPicPr>
          <p:nvPr/>
        </p:nvPicPr>
        <p:blipFill>
          <a:blip r:embed="rId2"/>
          <a:stretch>
            <a:fillRect/>
          </a:stretch>
        </p:blipFill>
        <p:spPr>
          <a:xfrm>
            <a:off x="3362098" y="1857417"/>
            <a:ext cx="1714649" cy="1425063"/>
          </a:xfrm>
          <a:prstGeom prst="rect">
            <a:avLst/>
          </a:prstGeom>
        </p:spPr>
      </p:pic>
      <p:pic>
        <p:nvPicPr>
          <p:cNvPr id="10" name="Picture 9">
            <a:extLst>
              <a:ext uri="{FF2B5EF4-FFF2-40B4-BE49-F238E27FC236}">
                <a16:creationId xmlns:a16="http://schemas.microsoft.com/office/drawing/2014/main" id="{350D6DB2-269D-9B80-0809-31855875B8CD}"/>
              </a:ext>
            </a:extLst>
          </p:cNvPr>
          <p:cNvPicPr>
            <a:picLocks noChangeAspect="1"/>
          </p:cNvPicPr>
          <p:nvPr/>
        </p:nvPicPr>
        <p:blipFill>
          <a:blip r:embed="rId3"/>
          <a:stretch>
            <a:fillRect/>
          </a:stretch>
        </p:blipFill>
        <p:spPr>
          <a:xfrm>
            <a:off x="1216844" y="1076888"/>
            <a:ext cx="1790855" cy="1104996"/>
          </a:xfrm>
          <a:prstGeom prst="rect">
            <a:avLst/>
          </a:prstGeom>
        </p:spPr>
      </p:pic>
      <p:pic>
        <p:nvPicPr>
          <p:cNvPr id="12" name="Picture 11">
            <a:extLst>
              <a:ext uri="{FF2B5EF4-FFF2-40B4-BE49-F238E27FC236}">
                <a16:creationId xmlns:a16="http://schemas.microsoft.com/office/drawing/2014/main" id="{25844A7C-2CA3-83BA-167C-B1525F72BB3C}"/>
              </a:ext>
            </a:extLst>
          </p:cNvPr>
          <p:cNvPicPr>
            <a:picLocks noChangeAspect="1"/>
          </p:cNvPicPr>
          <p:nvPr/>
        </p:nvPicPr>
        <p:blipFill>
          <a:blip r:embed="rId4"/>
          <a:stretch>
            <a:fillRect/>
          </a:stretch>
        </p:blipFill>
        <p:spPr>
          <a:xfrm>
            <a:off x="3510700" y="3709697"/>
            <a:ext cx="1417443" cy="685859"/>
          </a:xfrm>
          <a:prstGeom prst="rect">
            <a:avLst/>
          </a:prstGeom>
        </p:spPr>
      </p:pic>
      <p:pic>
        <p:nvPicPr>
          <p:cNvPr id="14" name="Picture 13">
            <a:extLst>
              <a:ext uri="{FF2B5EF4-FFF2-40B4-BE49-F238E27FC236}">
                <a16:creationId xmlns:a16="http://schemas.microsoft.com/office/drawing/2014/main" id="{44E22A0F-DE46-4D86-F635-36E591EFE456}"/>
              </a:ext>
            </a:extLst>
          </p:cNvPr>
          <p:cNvPicPr>
            <a:picLocks noChangeAspect="1"/>
          </p:cNvPicPr>
          <p:nvPr/>
        </p:nvPicPr>
        <p:blipFill>
          <a:blip r:embed="rId5"/>
          <a:stretch>
            <a:fillRect/>
          </a:stretch>
        </p:blipFill>
        <p:spPr>
          <a:xfrm>
            <a:off x="5840362" y="3429000"/>
            <a:ext cx="1661304" cy="685859"/>
          </a:xfrm>
          <a:prstGeom prst="rect">
            <a:avLst/>
          </a:prstGeom>
        </p:spPr>
      </p:pic>
      <p:pic>
        <p:nvPicPr>
          <p:cNvPr id="18" name="Picture 17">
            <a:extLst>
              <a:ext uri="{FF2B5EF4-FFF2-40B4-BE49-F238E27FC236}">
                <a16:creationId xmlns:a16="http://schemas.microsoft.com/office/drawing/2014/main" id="{9BE2761F-7A21-FBB9-17A1-F2799BC7E57E}"/>
              </a:ext>
            </a:extLst>
          </p:cNvPr>
          <p:cNvPicPr>
            <a:picLocks noChangeAspect="1"/>
          </p:cNvPicPr>
          <p:nvPr/>
        </p:nvPicPr>
        <p:blipFill>
          <a:blip r:embed="rId6"/>
          <a:stretch>
            <a:fillRect/>
          </a:stretch>
        </p:blipFill>
        <p:spPr>
          <a:xfrm>
            <a:off x="5840361" y="4490216"/>
            <a:ext cx="1661304" cy="701101"/>
          </a:xfrm>
          <a:prstGeom prst="rect">
            <a:avLst/>
          </a:prstGeom>
        </p:spPr>
      </p:pic>
      <p:pic>
        <p:nvPicPr>
          <p:cNvPr id="19" name="Picture 18">
            <a:extLst>
              <a:ext uri="{FF2B5EF4-FFF2-40B4-BE49-F238E27FC236}">
                <a16:creationId xmlns:a16="http://schemas.microsoft.com/office/drawing/2014/main" id="{FCDE968F-9BEE-0DFA-1E95-4C2941F46A39}"/>
              </a:ext>
            </a:extLst>
          </p:cNvPr>
          <p:cNvPicPr>
            <a:picLocks noChangeAspect="1"/>
          </p:cNvPicPr>
          <p:nvPr/>
        </p:nvPicPr>
        <p:blipFill>
          <a:blip r:embed="rId7"/>
          <a:stretch>
            <a:fillRect/>
          </a:stretch>
        </p:blipFill>
        <p:spPr>
          <a:xfrm>
            <a:off x="1051380" y="2772950"/>
            <a:ext cx="1790855" cy="1806097"/>
          </a:xfrm>
          <a:prstGeom prst="rect">
            <a:avLst/>
          </a:prstGeom>
        </p:spPr>
      </p:pic>
      <p:pic>
        <p:nvPicPr>
          <p:cNvPr id="21" name="Picture 20">
            <a:extLst>
              <a:ext uri="{FF2B5EF4-FFF2-40B4-BE49-F238E27FC236}">
                <a16:creationId xmlns:a16="http://schemas.microsoft.com/office/drawing/2014/main" id="{D3167C6D-8639-78B0-3917-6DFC1F29113C}"/>
              </a:ext>
            </a:extLst>
          </p:cNvPr>
          <p:cNvPicPr>
            <a:picLocks noChangeAspect="1"/>
          </p:cNvPicPr>
          <p:nvPr/>
        </p:nvPicPr>
        <p:blipFill>
          <a:blip r:embed="rId8"/>
          <a:stretch>
            <a:fillRect/>
          </a:stretch>
        </p:blipFill>
        <p:spPr>
          <a:xfrm>
            <a:off x="5808809" y="919948"/>
            <a:ext cx="1691787" cy="2301439"/>
          </a:xfrm>
          <a:prstGeom prst="rect">
            <a:avLst/>
          </a:prstGeom>
        </p:spPr>
      </p:pic>
      <p:cxnSp>
        <p:nvCxnSpPr>
          <p:cNvPr id="23" name="Straight Connector 22">
            <a:extLst>
              <a:ext uri="{FF2B5EF4-FFF2-40B4-BE49-F238E27FC236}">
                <a16:creationId xmlns:a16="http://schemas.microsoft.com/office/drawing/2014/main" id="{E9A556A6-7E9D-F9E0-A50C-120844A16A0F}"/>
              </a:ext>
            </a:extLst>
          </p:cNvPr>
          <p:cNvCxnSpPr>
            <a:cxnSpLocks/>
          </p:cNvCxnSpPr>
          <p:nvPr/>
        </p:nvCxnSpPr>
        <p:spPr>
          <a:xfrm flipV="1">
            <a:off x="4982356" y="1147300"/>
            <a:ext cx="858005" cy="855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CCCDE7-6A9A-FC5D-8E7E-4F6F97BE2AF9}"/>
              </a:ext>
            </a:extLst>
          </p:cNvPr>
          <p:cNvCxnSpPr>
            <a:cxnSpLocks/>
            <a:endCxn id="12" idx="0"/>
          </p:cNvCxnSpPr>
          <p:nvPr/>
        </p:nvCxnSpPr>
        <p:spPr>
          <a:xfrm>
            <a:off x="3925300" y="3282480"/>
            <a:ext cx="294122" cy="42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6D9973A-3C68-F2A9-192E-D704CAF963A3}"/>
              </a:ext>
            </a:extLst>
          </p:cNvPr>
          <p:cNvCxnSpPr>
            <a:cxnSpLocks/>
          </p:cNvCxnSpPr>
          <p:nvPr/>
        </p:nvCxnSpPr>
        <p:spPr>
          <a:xfrm>
            <a:off x="4438562" y="2954142"/>
            <a:ext cx="1550404" cy="1627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6536478-0F01-7E2E-E5BA-266A5E72E3B9}"/>
              </a:ext>
            </a:extLst>
          </p:cNvPr>
          <p:cNvCxnSpPr>
            <a:cxnSpLocks/>
          </p:cNvCxnSpPr>
          <p:nvPr/>
        </p:nvCxnSpPr>
        <p:spPr>
          <a:xfrm>
            <a:off x="4377011" y="2531896"/>
            <a:ext cx="1527258" cy="941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48153D1-F73A-B076-A433-D148485A3B02}"/>
              </a:ext>
            </a:extLst>
          </p:cNvPr>
          <p:cNvCxnSpPr>
            <a:cxnSpLocks/>
          </p:cNvCxnSpPr>
          <p:nvPr/>
        </p:nvCxnSpPr>
        <p:spPr>
          <a:xfrm flipH="1">
            <a:off x="2477254" y="2701635"/>
            <a:ext cx="1033446" cy="2640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360F42-BD3B-94A8-DF0B-0053AE8CAEBA}"/>
              </a:ext>
            </a:extLst>
          </p:cNvPr>
          <p:cNvCxnSpPr>
            <a:cxnSpLocks/>
          </p:cNvCxnSpPr>
          <p:nvPr/>
        </p:nvCxnSpPr>
        <p:spPr>
          <a:xfrm flipH="1" flipV="1">
            <a:off x="2559105" y="1309597"/>
            <a:ext cx="898215" cy="953487"/>
          </a:xfrm>
          <a:prstGeom prst="line">
            <a:avLst/>
          </a:prstGeom>
        </p:spPr>
        <p:style>
          <a:lnRef idx="1">
            <a:schemeClr val="accent1"/>
          </a:lnRef>
          <a:fillRef idx="0">
            <a:schemeClr val="accent1"/>
          </a:fillRef>
          <a:effectRef idx="0">
            <a:schemeClr val="accent1"/>
          </a:effectRef>
          <a:fontRef idx="minor">
            <a:schemeClr val="tx1"/>
          </a:fontRef>
        </p:style>
      </p:cxnSp>
      <p:sp>
        <p:nvSpPr>
          <p:cNvPr id="39" name="Arrow: Right 38">
            <a:extLst>
              <a:ext uri="{FF2B5EF4-FFF2-40B4-BE49-F238E27FC236}">
                <a16:creationId xmlns:a16="http://schemas.microsoft.com/office/drawing/2014/main" id="{E8FF36D2-1EA8-B700-E580-08058A261BAF}"/>
              </a:ext>
            </a:extLst>
          </p:cNvPr>
          <p:cNvSpPr/>
          <p:nvPr/>
        </p:nvSpPr>
        <p:spPr>
          <a:xfrm>
            <a:off x="8062452" y="2954142"/>
            <a:ext cx="943896" cy="337175"/>
          </a:xfrm>
          <a:prstGeom prst="rightArrow">
            <a:avLst/>
          </a:prstGeom>
          <a:solidFill>
            <a:srgbClr val="D395F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240F5548-912D-4FCD-92EF-F2E77BD7DB4C}"/>
              </a:ext>
            </a:extLst>
          </p:cNvPr>
          <p:cNvSpPr txBox="1"/>
          <p:nvPr/>
        </p:nvSpPr>
        <p:spPr>
          <a:xfrm>
            <a:off x="9322365" y="513675"/>
            <a:ext cx="2461548" cy="4663521"/>
          </a:xfrm>
          <a:prstGeom prst="rect">
            <a:avLst/>
          </a:prstGeom>
          <a:noFill/>
        </p:spPr>
        <p:txBody>
          <a:bodyPr wrap="square">
            <a:spAutoFit/>
          </a:bodyPr>
          <a:lstStyle/>
          <a:p>
            <a:pPr>
              <a:lnSpc>
                <a:spcPct val="150000"/>
              </a:lnSpc>
              <a:buNone/>
            </a:pPr>
            <a:r>
              <a:rPr lang="en-IN" sz="2000" b="1" dirty="0">
                <a:solidFill>
                  <a:srgbClr val="FF0000"/>
                </a:solidFill>
                <a:latin typeface="Baskerville Old Face" panose="02020602080505020303" pitchFamily="18" charset="0"/>
              </a:rPr>
              <a:t>Dataset:</a:t>
            </a:r>
            <a:r>
              <a:rPr lang="en-IN" sz="2000" dirty="0">
                <a:solidFill>
                  <a:srgbClr val="FF0000"/>
                </a:solidFill>
                <a:latin typeface="Baskerville Old Face" panose="02020602080505020303" pitchFamily="18" charset="0"/>
              </a:rPr>
              <a:t> </a:t>
            </a:r>
            <a:r>
              <a:rPr lang="en-IN" sz="2000" dirty="0" err="1">
                <a:solidFill>
                  <a:srgbClr val="FF0000"/>
                </a:solidFill>
                <a:latin typeface="Baskerville Old Face" panose="02020602080505020303" pitchFamily="18" charset="0"/>
              </a:rPr>
              <a:t>BlinkIT</a:t>
            </a:r>
            <a:r>
              <a:rPr lang="en-IN" sz="2000" dirty="0">
                <a:solidFill>
                  <a:srgbClr val="FF0000"/>
                </a:solidFill>
                <a:latin typeface="Baskerville Old Face" panose="02020602080505020303" pitchFamily="18" charset="0"/>
              </a:rPr>
              <a:t> Grocery Sales Dataset</a:t>
            </a:r>
          </a:p>
          <a:p>
            <a:pPr>
              <a:lnSpc>
                <a:spcPct val="150000"/>
              </a:lnSpc>
              <a:buNone/>
            </a:pPr>
            <a:r>
              <a:rPr lang="en-IN" sz="2000" dirty="0">
                <a:solidFill>
                  <a:srgbClr val="FF0000"/>
                </a:solidFill>
                <a:latin typeface="Baskerville Old Face" panose="02020602080505020303" pitchFamily="18" charset="0"/>
              </a:rPr>
              <a:t>The project uses a grocery sales dataset containing </a:t>
            </a:r>
            <a:r>
              <a:rPr lang="en-IN" sz="2000" b="1" dirty="0">
                <a:solidFill>
                  <a:srgbClr val="FF0000"/>
                </a:solidFill>
                <a:latin typeface="Baskerville Old Face" panose="02020602080505020303" pitchFamily="18" charset="0"/>
              </a:rPr>
              <a:t>8,523 records</a:t>
            </a:r>
            <a:r>
              <a:rPr lang="en-IN" sz="2000" dirty="0">
                <a:solidFill>
                  <a:srgbClr val="FF0000"/>
                </a:solidFill>
                <a:latin typeface="Baskerville Old Face" panose="02020602080505020303" pitchFamily="18" charset="0"/>
              </a:rPr>
              <a:t> with information about products, sales, outlets, locations and ratings.</a:t>
            </a:r>
          </a:p>
        </p:txBody>
      </p:sp>
      <p:sp>
        <p:nvSpPr>
          <p:cNvPr id="65" name="TextBox 64">
            <a:extLst>
              <a:ext uri="{FF2B5EF4-FFF2-40B4-BE49-F238E27FC236}">
                <a16:creationId xmlns:a16="http://schemas.microsoft.com/office/drawing/2014/main" id="{30787086-8155-F25F-BEE9-B16167ADCF7F}"/>
              </a:ext>
            </a:extLst>
          </p:cNvPr>
          <p:cNvSpPr txBox="1"/>
          <p:nvPr/>
        </p:nvSpPr>
        <p:spPr>
          <a:xfrm>
            <a:off x="546720" y="5398930"/>
            <a:ext cx="9060054" cy="738664"/>
          </a:xfrm>
          <a:prstGeom prst="rect">
            <a:avLst/>
          </a:prstGeom>
          <a:noFill/>
        </p:spPr>
        <p:txBody>
          <a:bodyPr wrap="square">
            <a:spAutoFit/>
          </a:bodyPr>
          <a:lstStyle/>
          <a:p>
            <a:pPr lvl="0"/>
            <a:r>
              <a:rPr lang="en-IN" b="1" dirty="0"/>
              <a:t>Supporting Table</a:t>
            </a:r>
          </a:p>
          <a:p>
            <a:pPr marL="342900" lvl="0" indent="-342900">
              <a:buFont typeface="Arial" panose="020B0604020202020204" pitchFamily="34" charset="0"/>
              <a:buChar char="•"/>
            </a:pPr>
            <a:endParaRPr lang="en-IN" b="1" dirty="0"/>
          </a:p>
          <a:p>
            <a:pPr marL="342900" lvl="0" indent="-342900">
              <a:buFont typeface="Arial" panose="020B0604020202020204" pitchFamily="34" charset="0"/>
              <a:buChar char="•"/>
            </a:pPr>
            <a:r>
              <a:rPr lang="en-IN" b="1" dirty="0"/>
              <a:t>Items, </a:t>
            </a:r>
            <a:r>
              <a:rPr lang="en-IN" dirty="0"/>
              <a:t> </a:t>
            </a:r>
            <a:r>
              <a:rPr lang="en-IN" b="1" dirty="0"/>
              <a:t>Item Content / Fat Content, </a:t>
            </a:r>
            <a:r>
              <a:rPr lang="en-IN" dirty="0"/>
              <a:t> </a:t>
            </a:r>
            <a:r>
              <a:rPr lang="en-IN" b="1" dirty="0"/>
              <a:t>Outlet Information, </a:t>
            </a:r>
            <a:r>
              <a:rPr lang="en-IN" dirty="0"/>
              <a:t> </a:t>
            </a:r>
            <a:r>
              <a:rPr lang="en-IN" b="1" dirty="0"/>
              <a:t>Outlet Location, </a:t>
            </a:r>
            <a:r>
              <a:rPr lang="en-IN" dirty="0"/>
              <a:t> </a:t>
            </a:r>
            <a:r>
              <a:rPr lang="en-IN" b="1" dirty="0"/>
              <a:t>Cities</a:t>
            </a:r>
            <a:r>
              <a:rPr lang="en-IN" dirty="0"/>
              <a:t> </a:t>
            </a:r>
            <a:r>
              <a:rPr lang="en-IN" i="1" dirty="0"/>
              <a:t>(reference table)</a:t>
            </a:r>
            <a:endParaRPr lang="en-IN" dirty="0"/>
          </a:p>
        </p:txBody>
      </p:sp>
      <p:sp>
        <p:nvSpPr>
          <p:cNvPr id="67" name="TextBox 66">
            <a:extLst>
              <a:ext uri="{FF2B5EF4-FFF2-40B4-BE49-F238E27FC236}">
                <a16:creationId xmlns:a16="http://schemas.microsoft.com/office/drawing/2014/main" id="{E6EBB302-46A8-ED28-3504-B5220E9C7A41}"/>
              </a:ext>
            </a:extLst>
          </p:cNvPr>
          <p:cNvSpPr txBox="1"/>
          <p:nvPr/>
        </p:nvSpPr>
        <p:spPr>
          <a:xfrm>
            <a:off x="546721" y="310463"/>
            <a:ext cx="9060053" cy="461665"/>
          </a:xfrm>
          <a:prstGeom prst="rect">
            <a:avLst/>
          </a:prstGeom>
          <a:noFill/>
        </p:spPr>
        <p:txBody>
          <a:bodyPr wrap="square">
            <a:spAutoFit/>
          </a:bodyPr>
          <a:lstStyle/>
          <a:p>
            <a:r>
              <a:rPr lang="en-IN" sz="2400" b="1" dirty="0">
                <a:solidFill>
                  <a:srgbClr val="FF0000"/>
                </a:solidFill>
                <a:latin typeface="Bahnschrift" panose="020B0502040204020203" pitchFamily="34" charset="0"/>
              </a:rPr>
              <a:t>DATASET OVERVIEW &amp; DATA SOURCE</a:t>
            </a:r>
          </a:p>
        </p:txBody>
      </p:sp>
    </p:spTree>
    <p:extLst>
      <p:ext uri="{BB962C8B-B14F-4D97-AF65-F5344CB8AC3E}">
        <p14:creationId xmlns:p14="http://schemas.microsoft.com/office/powerpoint/2010/main" val="2838443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9FBD-62C3-8E5C-EA5E-6CDE74EDEC7B}"/>
              </a:ext>
            </a:extLst>
          </p:cNvPr>
          <p:cNvSpPr>
            <a:spLocks noGrp="1"/>
          </p:cNvSpPr>
          <p:nvPr>
            <p:ph type="title"/>
          </p:nvPr>
        </p:nvSpPr>
        <p:spPr>
          <a:xfrm>
            <a:off x="414867" y="48418"/>
            <a:ext cx="4732867" cy="1325563"/>
          </a:xfrm>
        </p:spPr>
        <p:txBody>
          <a:bodyPr>
            <a:normAutofit/>
          </a:bodyPr>
          <a:lstStyle/>
          <a:p>
            <a:r>
              <a:rPr lang="en-IN" sz="3200" b="1" dirty="0">
                <a:solidFill>
                  <a:srgbClr val="FF0000"/>
                </a:solidFill>
                <a:latin typeface="Bahnschrift" panose="020B0502040204020203" pitchFamily="34" charset="0"/>
              </a:rPr>
              <a:t>DATA UNDERSTANDING </a:t>
            </a:r>
          </a:p>
        </p:txBody>
      </p:sp>
      <p:sp>
        <p:nvSpPr>
          <p:cNvPr id="4" name="TextBox 3">
            <a:extLst>
              <a:ext uri="{FF2B5EF4-FFF2-40B4-BE49-F238E27FC236}">
                <a16:creationId xmlns:a16="http://schemas.microsoft.com/office/drawing/2014/main" id="{2A052D72-1922-7A53-4A9A-5B93F6D3F9EE}"/>
              </a:ext>
            </a:extLst>
          </p:cNvPr>
          <p:cNvSpPr txBox="1"/>
          <p:nvPr/>
        </p:nvSpPr>
        <p:spPr>
          <a:xfrm>
            <a:off x="6620930" y="389465"/>
            <a:ext cx="4123267" cy="64346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a:lnSpc>
                <a:spcPct val="90000"/>
              </a:lnSpc>
              <a:buClr>
                <a:schemeClr val="dk1"/>
              </a:buClr>
              <a:buSzPts val="1800"/>
              <a:buFont typeface="Calibri"/>
              <a:buNone/>
              <a:defRPr sz="3200" b="1">
                <a:solidFill>
                  <a:srgbClr val="FF0000"/>
                </a:solidFill>
                <a:latin typeface="Bahnschrift" panose="020B0502040204020203" pitchFamily="34" charset="0"/>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IN" dirty="0"/>
              <a:t>DATA PREPARATION</a:t>
            </a:r>
          </a:p>
        </p:txBody>
      </p:sp>
      <p:sp>
        <p:nvSpPr>
          <p:cNvPr id="6" name="TextBox 5">
            <a:extLst>
              <a:ext uri="{FF2B5EF4-FFF2-40B4-BE49-F238E27FC236}">
                <a16:creationId xmlns:a16="http://schemas.microsoft.com/office/drawing/2014/main" id="{82D2D25C-244D-39C5-4766-354208D155EE}"/>
              </a:ext>
            </a:extLst>
          </p:cNvPr>
          <p:cNvSpPr txBox="1"/>
          <p:nvPr/>
        </p:nvSpPr>
        <p:spPr>
          <a:xfrm>
            <a:off x="6620930" y="1032932"/>
            <a:ext cx="5156203" cy="4621906"/>
          </a:xfrm>
          <a:prstGeom prst="rect">
            <a:avLst/>
          </a:prstGeom>
          <a:noFill/>
        </p:spPr>
        <p:txBody>
          <a:bodyPr wrap="square">
            <a:spAutoFit/>
          </a:bodyPr>
          <a:lstStyle/>
          <a:p>
            <a:pPr lvl="0">
              <a:lnSpc>
                <a:spcPct val="150000"/>
              </a:lnSpc>
            </a:pPr>
            <a:r>
              <a:rPr lang="en-IN" sz="1800" dirty="0">
                <a:latin typeface="Baskerville Old Face" panose="02020602080505020303" pitchFamily="18" charset="0"/>
              </a:rPr>
              <a:t>Checking and correcting </a:t>
            </a:r>
            <a:r>
              <a:rPr lang="en-IN" sz="1800" b="1" dirty="0">
                <a:latin typeface="Baskerville Old Face" panose="02020602080505020303" pitchFamily="18" charset="0"/>
              </a:rPr>
              <a:t>data types</a:t>
            </a:r>
            <a:endParaRPr lang="en-IN" sz="1800" dirty="0">
              <a:latin typeface="Baskerville Old Face" panose="02020602080505020303" pitchFamily="18" charset="0"/>
            </a:endParaRPr>
          </a:p>
          <a:p>
            <a:pPr lvl="0">
              <a:lnSpc>
                <a:spcPct val="150000"/>
              </a:lnSpc>
            </a:pPr>
            <a:r>
              <a:rPr lang="en-IN" sz="1800" dirty="0">
                <a:latin typeface="Baskerville Old Face" panose="02020602080505020303" pitchFamily="18" charset="0"/>
              </a:rPr>
              <a:t>Identifying </a:t>
            </a:r>
            <a:r>
              <a:rPr lang="en-IN" sz="1800" b="1" dirty="0">
                <a:latin typeface="Baskerville Old Face" panose="02020602080505020303" pitchFamily="18" charset="0"/>
              </a:rPr>
              <a:t>missing values</a:t>
            </a:r>
            <a:endParaRPr lang="en-IN" sz="1800" dirty="0">
              <a:latin typeface="Baskerville Old Face" panose="02020602080505020303" pitchFamily="18" charset="0"/>
            </a:endParaRPr>
          </a:p>
          <a:p>
            <a:pPr lvl="0">
              <a:lnSpc>
                <a:spcPct val="150000"/>
              </a:lnSpc>
            </a:pPr>
            <a:r>
              <a:rPr lang="en-IN" sz="1800" dirty="0">
                <a:latin typeface="Baskerville Old Face" panose="02020602080505020303" pitchFamily="18" charset="0"/>
              </a:rPr>
              <a:t>Standardizing categorical values</a:t>
            </a:r>
          </a:p>
          <a:p>
            <a:pPr lvl="0">
              <a:lnSpc>
                <a:spcPct val="150000"/>
              </a:lnSpc>
            </a:pPr>
            <a:r>
              <a:rPr lang="en-IN" sz="1800" dirty="0">
                <a:latin typeface="Baskerville Old Face" panose="02020602080505020303" pitchFamily="18" charset="0"/>
              </a:rPr>
              <a:t>Checking the uniqueness of dimension keys</a:t>
            </a:r>
          </a:p>
          <a:p>
            <a:pPr lvl="0">
              <a:lnSpc>
                <a:spcPct val="150000"/>
              </a:lnSpc>
            </a:pPr>
            <a:r>
              <a:rPr lang="en-IN" sz="1800" dirty="0">
                <a:latin typeface="Baskerville Old Face" panose="02020602080505020303" pitchFamily="18" charset="0"/>
              </a:rPr>
              <a:t>Separating the data into appropriate tables</a:t>
            </a:r>
          </a:p>
          <a:p>
            <a:pPr lvl="0">
              <a:lnSpc>
                <a:spcPct val="150000"/>
              </a:lnSpc>
            </a:pPr>
            <a:r>
              <a:rPr lang="en-IN" sz="1800" dirty="0">
                <a:latin typeface="Baskerville Old Face" panose="02020602080505020303" pitchFamily="18" charset="0"/>
              </a:rPr>
              <a:t>Preparing the data for a structured Power BI model</a:t>
            </a:r>
          </a:p>
          <a:p>
            <a:pPr>
              <a:lnSpc>
                <a:spcPct val="150000"/>
              </a:lnSpc>
            </a:pPr>
            <a:r>
              <a:rPr lang="en-IN" sz="1800" b="1" dirty="0">
                <a:latin typeface="Baskerville Old Face" panose="02020602080505020303" pitchFamily="18" charset="0"/>
              </a:rPr>
              <a:t>Important Data Quality Point</a:t>
            </a:r>
          </a:p>
          <a:p>
            <a:pPr>
              <a:lnSpc>
                <a:spcPct val="150000"/>
              </a:lnSpc>
            </a:pPr>
            <a:r>
              <a:rPr lang="en-IN" sz="1800" b="1" dirty="0">
                <a:latin typeface="Baskerville Old Face" panose="02020602080505020303" pitchFamily="18" charset="0"/>
              </a:rPr>
              <a:t>Item Weight</a:t>
            </a:r>
            <a:r>
              <a:rPr lang="en-IN" sz="1800" dirty="0">
                <a:latin typeface="Baskerville Old Face" panose="02020602080505020303" pitchFamily="18" charset="0"/>
              </a:rPr>
              <a:t> contains missing values.</a:t>
            </a:r>
          </a:p>
          <a:p>
            <a:pPr>
              <a:lnSpc>
                <a:spcPct val="150000"/>
              </a:lnSpc>
            </a:pPr>
            <a:r>
              <a:rPr lang="en-IN" sz="1800" b="1" dirty="0">
                <a:latin typeface="Baskerville Old Face" panose="02020602080505020303" pitchFamily="18" charset="0"/>
              </a:rPr>
              <a:t>1,463 records have missing Item Weight values.</a:t>
            </a:r>
            <a:endParaRPr lang="en-IN" sz="1800" dirty="0">
              <a:latin typeface="Baskerville Old Face" panose="02020602080505020303" pitchFamily="18" charset="0"/>
            </a:endParaRPr>
          </a:p>
          <a:p>
            <a:pPr>
              <a:lnSpc>
                <a:spcPct val="150000"/>
              </a:lnSpc>
            </a:pPr>
            <a:r>
              <a:rPr lang="en-IN" sz="1800" dirty="0">
                <a:latin typeface="Baskerville Old Face" panose="02020602080505020303" pitchFamily="18" charset="0"/>
              </a:rPr>
              <a:t>These records were </a:t>
            </a:r>
            <a:r>
              <a:rPr lang="en-IN" sz="1800" b="1" dirty="0">
                <a:latin typeface="Baskerville Old Face" panose="02020602080505020303" pitchFamily="18" charset="0"/>
              </a:rPr>
              <a:t>not deleted or replaced with zero</a:t>
            </a:r>
            <a:r>
              <a:rPr lang="en-IN" sz="1800" dirty="0">
                <a:latin typeface="Baskerville Old Face" panose="02020602080505020303" pitchFamily="18" charset="0"/>
              </a:rPr>
              <a:t>, because they still contain valid sales information</a:t>
            </a:r>
          </a:p>
        </p:txBody>
      </p:sp>
      <p:sp>
        <p:nvSpPr>
          <p:cNvPr id="8" name="TextBox 7">
            <a:extLst>
              <a:ext uri="{FF2B5EF4-FFF2-40B4-BE49-F238E27FC236}">
                <a16:creationId xmlns:a16="http://schemas.microsoft.com/office/drawing/2014/main" id="{272EEA29-65CB-8619-0603-7029D3F5562E}"/>
              </a:ext>
            </a:extLst>
          </p:cNvPr>
          <p:cNvSpPr txBox="1"/>
          <p:nvPr/>
        </p:nvSpPr>
        <p:spPr>
          <a:xfrm>
            <a:off x="533394" y="1032932"/>
            <a:ext cx="5350937" cy="503740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Total records in main sales table: </a:t>
            </a:r>
            <a:r>
              <a:rPr lang="en-IN" sz="1800" b="1" dirty="0">
                <a:latin typeface="Baskerville Old Face" panose="02020602080505020303" pitchFamily="18" charset="0"/>
              </a:rPr>
              <a:t>8,523</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Product information was available through an </a:t>
            </a:r>
            <a:r>
              <a:rPr lang="en-IN" sz="1800" b="1" dirty="0">
                <a:latin typeface="Baskerville Old Face" panose="02020602080505020303" pitchFamily="18" charset="0"/>
              </a:rPr>
              <a:t>Item lookup table</a:t>
            </a:r>
            <a:r>
              <a:rPr lang="en-IN" sz="1800" dirty="0">
                <a:latin typeface="Baskerville Old Face" panose="02020602080505020303" pitchFamily="18" charset="0"/>
              </a:rPr>
              <a:t>.</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Outlet information was available through an </a:t>
            </a:r>
            <a:r>
              <a:rPr lang="en-IN" sz="1800" b="1" dirty="0">
                <a:latin typeface="Baskerville Old Face" panose="02020602080505020303" pitchFamily="18" charset="0"/>
              </a:rPr>
              <a:t>Outlet lookup table</a:t>
            </a:r>
            <a:r>
              <a:rPr lang="en-IN" sz="1800" dirty="0">
                <a:latin typeface="Baskerville Old Face" panose="02020602080505020303" pitchFamily="18" charset="0"/>
              </a:rPr>
              <a:t>.</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Location information was available through an </a:t>
            </a:r>
            <a:r>
              <a:rPr lang="en-IN" sz="1800" b="1" dirty="0">
                <a:latin typeface="Baskerville Old Face" panose="02020602080505020303" pitchFamily="18" charset="0"/>
              </a:rPr>
              <a:t>Outlet Location table</a:t>
            </a:r>
            <a:r>
              <a:rPr lang="en-IN" sz="1800" dirty="0">
                <a:latin typeface="Baskerville Old Face" panose="02020602080505020303" pitchFamily="18" charset="0"/>
              </a:rPr>
              <a:t>.</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Product fat content was standardized through a separate </a:t>
            </a:r>
            <a:r>
              <a:rPr lang="en-IN" sz="1800" b="1" dirty="0">
                <a:latin typeface="Baskerville Old Face" panose="02020602080505020303" pitchFamily="18" charset="0"/>
              </a:rPr>
              <a:t>Item Content table</a:t>
            </a:r>
            <a:r>
              <a:rPr lang="en-IN" sz="1800" dirty="0">
                <a:latin typeface="Baskerville Old Face" panose="02020602080505020303" pitchFamily="18" charset="0"/>
              </a:rPr>
              <a:t>.</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The dataset contains </a:t>
            </a:r>
            <a:r>
              <a:rPr lang="en-IN" sz="1800" b="1" dirty="0">
                <a:latin typeface="Baskerville Old Face" panose="02020602080505020303" pitchFamily="18" charset="0"/>
              </a:rPr>
              <a:t>16 item categories</a:t>
            </a:r>
            <a:r>
              <a:rPr lang="en-IN" sz="1800" dirty="0">
                <a:latin typeface="Baskerville Old Face" panose="02020602080505020303" pitchFamily="18" charset="0"/>
              </a:rPr>
              <a:t>.</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Outlet locations are classified into </a:t>
            </a:r>
            <a:r>
              <a:rPr lang="en-IN" sz="1800" b="1" dirty="0">
                <a:latin typeface="Baskerville Old Face" panose="02020602080505020303" pitchFamily="18" charset="0"/>
              </a:rPr>
              <a:t>3 tiers</a:t>
            </a:r>
            <a:r>
              <a:rPr lang="en-IN" sz="1800" dirty="0">
                <a:latin typeface="Baskerville Old Face" panose="02020602080505020303" pitchFamily="18" charset="0"/>
              </a:rPr>
              <a:t>: Tier 1, Tier 2, Tier 3</a:t>
            </a:r>
          </a:p>
        </p:txBody>
      </p:sp>
    </p:spTree>
    <p:extLst>
      <p:ext uri="{BB962C8B-B14F-4D97-AF65-F5344CB8AC3E}">
        <p14:creationId xmlns:p14="http://schemas.microsoft.com/office/powerpoint/2010/main" val="3692948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44DB-FB25-FC01-B251-1351F49F9318}"/>
              </a:ext>
            </a:extLst>
          </p:cNvPr>
          <p:cNvSpPr>
            <a:spLocks noGrp="1"/>
          </p:cNvSpPr>
          <p:nvPr>
            <p:ph type="title"/>
          </p:nvPr>
        </p:nvSpPr>
        <p:spPr>
          <a:xfrm>
            <a:off x="237340" y="122596"/>
            <a:ext cx="10515600" cy="1325563"/>
          </a:xfrm>
        </p:spPr>
        <p:txBody>
          <a:bodyPr>
            <a:normAutofit/>
          </a:bodyPr>
          <a:lstStyle/>
          <a:p>
            <a:r>
              <a:rPr lang="en-IN" sz="3200" b="1" dirty="0">
                <a:solidFill>
                  <a:srgbClr val="FF0000"/>
                </a:solidFill>
                <a:latin typeface="Bahnschrift" panose="020B0502040204020203" pitchFamily="34" charset="0"/>
              </a:rPr>
              <a:t>Data Cleaning &amp; Transformation Using Power Query</a:t>
            </a:r>
          </a:p>
        </p:txBody>
      </p:sp>
      <p:sp>
        <p:nvSpPr>
          <p:cNvPr id="4" name="TextBox 3">
            <a:extLst>
              <a:ext uri="{FF2B5EF4-FFF2-40B4-BE49-F238E27FC236}">
                <a16:creationId xmlns:a16="http://schemas.microsoft.com/office/drawing/2014/main" id="{7D9EE1FD-E412-A325-BD69-07F73F45F6E0}"/>
              </a:ext>
            </a:extLst>
          </p:cNvPr>
          <p:cNvSpPr txBox="1"/>
          <p:nvPr/>
        </p:nvSpPr>
        <p:spPr>
          <a:xfrm>
            <a:off x="727587" y="1118047"/>
            <a:ext cx="9902723" cy="4621906"/>
          </a:xfrm>
          <a:prstGeom prst="rect">
            <a:avLst/>
          </a:prstGeom>
          <a:noFill/>
        </p:spPr>
        <p:txBody>
          <a:bodyPr wrap="square">
            <a:spAutoFit/>
          </a:bodyPr>
          <a:lstStyle/>
          <a:p>
            <a:pPr>
              <a:lnSpc>
                <a:spcPct val="150000"/>
              </a:lnSpc>
              <a:buNone/>
            </a:pPr>
            <a:r>
              <a:rPr lang="en-IN" sz="1800" dirty="0">
                <a:latin typeface="Baskerville Old Face" panose="02020602080505020303" pitchFamily="18" charset="0"/>
              </a:rPr>
              <a:t>Power Query was used to clean and transform the dataset before creating the Power BI data model. The data types of important columns were corrected and categorical values were standardized to maintain consistency. For example, the different fat-content labels such as </a:t>
            </a:r>
            <a:r>
              <a:rPr lang="en-IN" sz="1800" b="1" dirty="0">
                <a:latin typeface="Baskerville Old Face" panose="02020602080505020303" pitchFamily="18" charset="0"/>
              </a:rPr>
              <a:t>Regular, reg, Low Fat, low fat and LF</a:t>
            </a:r>
            <a:r>
              <a:rPr lang="en-IN" sz="1800" dirty="0">
                <a:latin typeface="Baskerville Old Face" panose="02020602080505020303" pitchFamily="18" charset="0"/>
              </a:rPr>
              <a:t> were standardized into two consistent categories: </a:t>
            </a:r>
            <a:r>
              <a:rPr lang="en-IN" sz="1800" b="1" dirty="0">
                <a:latin typeface="Baskerville Old Face" panose="02020602080505020303" pitchFamily="18" charset="0"/>
              </a:rPr>
              <a:t>Regular</a:t>
            </a:r>
            <a:r>
              <a:rPr lang="en-IN" sz="1800" dirty="0">
                <a:latin typeface="Baskerville Old Face" panose="02020602080505020303" pitchFamily="18" charset="0"/>
              </a:rPr>
              <a:t> and </a:t>
            </a:r>
            <a:r>
              <a:rPr lang="en-IN" sz="1800" b="1" dirty="0">
                <a:latin typeface="Baskerville Old Face" panose="02020602080505020303" pitchFamily="18" charset="0"/>
              </a:rPr>
              <a:t>Low Fat</a:t>
            </a:r>
            <a:r>
              <a:rPr lang="en-IN" sz="1800" dirty="0">
                <a:latin typeface="Baskerville Old Face" panose="02020602080505020303" pitchFamily="18" charset="0"/>
              </a:rPr>
              <a:t>. During this process, records with invalid or null fat-content values that could not be standardized were removed from the Item Content data.</a:t>
            </a:r>
          </a:p>
          <a:p>
            <a:pPr>
              <a:lnSpc>
                <a:spcPct val="150000"/>
              </a:lnSpc>
              <a:buNone/>
            </a:pPr>
            <a:endParaRPr lang="en-IN" sz="1800" dirty="0">
              <a:latin typeface="Baskerville Old Face" panose="02020602080505020303" pitchFamily="18" charset="0"/>
            </a:endParaRPr>
          </a:p>
          <a:p>
            <a:pPr>
              <a:lnSpc>
                <a:spcPct val="150000"/>
              </a:lnSpc>
              <a:buNone/>
            </a:pPr>
            <a:r>
              <a:rPr lang="en-IN" sz="1800" dirty="0">
                <a:latin typeface="Baskerville Old Face" panose="02020602080505020303" pitchFamily="18" charset="0"/>
              </a:rPr>
              <a:t>The dimension tables were also cleaned by checking their keys and removing unnecessary duplicate or null key entries where required. The main sales records were retained so that valid sales information was not lost. A </a:t>
            </a:r>
            <a:r>
              <a:rPr lang="en-IN" sz="1800" b="1" dirty="0">
                <a:latin typeface="Baskerville Old Face" panose="02020602080505020303" pitchFamily="18" charset="0"/>
              </a:rPr>
              <a:t>Sales per Kg</a:t>
            </a:r>
            <a:r>
              <a:rPr lang="en-IN" sz="1800" dirty="0">
                <a:latin typeface="Baskerville Old Face" panose="02020602080505020303" pitchFamily="18" charset="0"/>
              </a:rPr>
              <a:t> calculated column was also created using Sales divided by Item Weight, while records without a valid Item Weight were kept blank for this calculation. Additionally, a </a:t>
            </a:r>
            <a:r>
              <a:rPr lang="en-IN" sz="1800" b="1" dirty="0">
                <a:latin typeface="Baskerville Old Face" panose="02020602080505020303" pitchFamily="18" charset="0"/>
              </a:rPr>
              <a:t>Years of Operation</a:t>
            </a:r>
            <a:r>
              <a:rPr lang="en-IN" sz="1800" dirty="0">
                <a:latin typeface="Baskerville Old Face" panose="02020602080505020303" pitchFamily="18" charset="0"/>
              </a:rPr>
              <a:t> column was created using the outlet establishment year.</a:t>
            </a:r>
          </a:p>
        </p:txBody>
      </p:sp>
    </p:spTree>
    <p:extLst>
      <p:ext uri="{BB962C8B-B14F-4D97-AF65-F5344CB8AC3E}">
        <p14:creationId xmlns:p14="http://schemas.microsoft.com/office/powerpoint/2010/main" val="3287201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D0C7A1-1C36-74CB-99D6-D46EB3B24191}"/>
              </a:ext>
            </a:extLst>
          </p:cNvPr>
          <p:cNvPicPr>
            <a:picLocks noChangeAspect="1"/>
          </p:cNvPicPr>
          <p:nvPr/>
        </p:nvPicPr>
        <p:blipFill>
          <a:blip r:embed="rId2"/>
          <a:stretch>
            <a:fillRect/>
          </a:stretch>
        </p:blipFill>
        <p:spPr>
          <a:xfrm>
            <a:off x="423333" y="1185333"/>
            <a:ext cx="6498577" cy="4893460"/>
          </a:xfrm>
          <a:prstGeom prst="rect">
            <a:avLst/>
          </a:prstGeom>
        </p:spPr>
      </p:pic>
      <p:sp>
        <p:nvSpPr>
          <p:cNvPr id="6" name="TextBox 5">
            <a:extLst>
              <a:ext uri="{FF2B5EF4-FFF2-40B4-BE49-F238E27FC236}">
                <a16:creationId xmlns:a16="http://schemas.microsoft.com/office/drawing/2014/main" id="{678F4AB5-89BC-0B60-DB92-1F43A999E26F}"/>
              </a:ext>
            </a:extLst>
          </p:cNvPr>
          <p:cNvSpPr txBox="1"/>
          <p:nvPr/>
        </p:nvSpPr>
        <p:spPr>
          <a:xfrm>
            <a:off x="423333" y="255987"/>
            <a:ext cx="2330245" cy="523220"/>
          </a:xfrm>
          <a:prstGeom prst="rect">
            <a:avLst/>
          </a:prstGeom>
          <a:noFill/>
        </p:spPr>
        <p:txBody>
          <a:bodyPr wrap="square" rtlCol="0">
            <a:spAutoFit/>
          </a:bodyPr>
          <a:lstStyle/>
          <a:p>
            <a:r>
              <a:rPr lang="en-US" sz="2800" dirty="0">
                <a:solidFill>
                  <a:srgbClr val="FF0000"/>
                </a:solidFill>
              </a:rPr>
              <a:t>Model View</a:t>
            </a:r>
            <a:endParaRPr lang="en-IN" sz="2800" dirty="0">
              <a:solidFill>
                <a:srgbClr val="FF0000"/>
              </a:solidFill>
            </a:endParaRPr>
          </a:p>
        </p:txBody>
      </p:sp>
      <p:sp>
        <p:nvSpPr>
          <p:cNvPr id="8" name="TextBox 7">
            <a:extLst>
              <a:ext uri="{FF2B5EF4-FFF2-40B4-BE49-F238E27FC236}">
                <a16:creationId xmlns:a16="http://schemas.microsoft.com/office/drawing/2014/main" id="{9DE33F5F-3A3D-C99F-9AD2-C36294521C87}"/>
              </a:ext>
            </a:extLst>
          </p:cNvPr>
          <p:cNvSpPr txBox="1"/>
          <p:nvPr/>
        </p:nvSpPr>
        <p:spPr>
          <a:xfrm>
            <a:off x="7518401" y="255987"/>
            <a:ext cx="4250266" cy="6154505"/>
          </a:xfrm>
          <a:prstGeom prst="rect">
            <a:avLst/>
          </a:prstGeom>
          <a:noFill/>
        </p:spPr>
        <p:txBody>
          <a:bodyPr wrap="square">
            <a:spAutoFit/>
          </a:bodyPr>
          <a:lstStyle/>
          <a:p>
            <a:pPr>
              <a:lnSpc>
                <a:spcPct val="150000"/>
              </a:lnSpc>
              <a:buNone/>
            </a:pPr>
            <a:r>
              <a:rPr lang="en-IN" sz="2000" b="1" dirty="0">
                <a:solidFill>
                  <a:srgbClr val="FF0000"/>
                </a:solidFill>
                <a:latin typeface="Baskerville Old Face" panose="02020602080505020303" pitchFamily="18" charset="0"/>
              </a:rPr>
              <a:t>Data Model &amp; Relationships</a:t>
            </a:r>
          </a:p>
          <a:p>
            <a:pPr>
              <a:lnSpc>
                <a:spcPct val="150000"/>
              </a:lnSpc>
              <a:buNone/>
            </a:pPr>
            <a:endParaRPr lang="en-IN" sz="2000" b="1" dirty="0">
              <a:solidFill>
                <a:srgbClr val="FF0000"/>
              </a:solidFill>
              <a:latin typeface="Baskerville Old Face" panose="02020602080505020303" pitchFamily="18" charset="0"/>
            </a:endParaRPr>
          </a:p>
          <a:p>
            <a:pPr>
              <a:lnSpc>
                <a:spcPct val="150000"/>
              </a:lnSpc>
            </a:pPr>
            <a:r>
              <a:rPr lang="en-IN" dirty="0">
                <a:latin typeface="Baskerville Old Face" panose="02020602080505020303" pitchFamily="18" charset="0"/>
              </a:rPr>
              <a:t>The project uses a structured </a:t>
            </a:r>
            <a:r>
              <a:rPr lang="en-IN" b="1" dirty="0">
                <a:latin typeface="Baskerville Old Face" panose="02020602080505020303" pitchFamily="18" charset="0"/>
              </a:rPr>
              <a:t>star/snowflake-style data </a:t>
            </a:r>
            <a:r>
              <a:rPr lang="en-IN" b="1" dirty="0" err="1">
                <a:latin typeface="Baskerville Old Face" panose="02020602080505020303" pitchFamily="18" charset="0"/>
              </a:rPr>
              <a:t>modeling</a:t>
            </a:r>
            <a:r>
              <a:rPr lang="en-IN" b="1" dirty="0">
                <a:latin typeface="Baskerville Old Face" panose="02020602080505020303" pitchFamily="18" charset="0"/>
              </a:rPr>
              <a:t> approach</a:t>
            </a:r>
            <a:r>
              <a:rPr lang="en-IN" dirty="0">
                <a:latin typeface="Baskerville Old Face" panose="02020602080505020303" pitchFamily="18" charset="0"/>
              </a:rPr>
              <a:t> to make the Power BI report efficient and easy to </a:t>
            </a:r>
            <a:r>
              <a:rPr lang="en-IN" dirty="0" err="1">
                <a:latin typeface="Baskerville Old Face" panose="02020602080505020303" pitchFamily="18" charset="0"/>
              </a:rPr>
              <a:t>analyze</a:t>
            </a:r>
            <a:r>
              <a:rPr lang="en-IN" dirty="0">
                <a:latin typeface="Baskerville Old Face" panose="02020602080505020303" pitchFamily="18" charset="0"/>
              </a:rPr>
              <a:t>. The </a:t>
            </a:r>
            <a:r>
              <a:rPr lang="en-IN" b="1" dirty="0" err="1">
                <a:latin typeface="Baskerville Old Face" panose="02020602080505020303" pitchFamily="18" charset="0"/>
              </a:rPr>
              <a:t>BlinkIT</a:t>
            </a:r>
            <a:r>
              <a:rPr lang="en-IN" b="1" dirty="0">
                <a:latin typeface="Baskerville Old Face" panose="02020602080505020303" pitchFamily="18" charset="0"/>
              </a:rPr>
              <a:t> Grocery Data</a:t>
            </a:r>
            <a:r>
              <a:rPr lang="en-IN" dirty="0">
                <a:latin typeface="Baskerville Old Face" panose="02020602080505020303" pitchFamily="18" charset="0"/>
              </a:rPr>
              <a:t> table acts as the central fact table containing sales-related information, while the Item, Item Content, Outlet and Location tables provide descriptive details. The Item, Item Content and Outlet tables are directly connected to the sales table, while the Outlet Location table is connected through the Outlet table. This structure reduces unnecessary repetition of information and allows filters such as </a:t>
            </a:r>
            <a:r>
              <a:rPr lang="en-IN" b="1" dirty="0">
                <a:latin typeface="Baskerville Old Face" panose="02020602080505020303" pitchFamily="18" charset="0"/>
              </a:rPr>
              <a:t>Item Type, Fat Content, Outlet Type and Location Tier</a:t>
            </a:r>
            <a:r>
              <a:rPr lang="en-IN" dirty="0">
                <a:latin typeface="Baskerville Old Face" panose="02020602080505020303" pitchFamily="18" charset="0"/>
              </a:rPr>
              <a:t> to work correctly across the dashboard.</a:t>
            </a:r>
          </a:p>
          <a:p>
            <a:pPr>
              <a:lnSpc>
                <a:spcPct val="150000"/>
              </a:lnSpc>
            </a:pPr>
            <a:r>
              <a:rPr lang="en-IN" dirty="0">
                <a:latin typeface="Baskerville Old Face" panose="02020602080505020303" pitchFamily="18" charset="0"/>
              </a:rPr>
              <a:t>The model also uses </a:t>
            </a:r>
            <a:r>
              <a:rPr lang="en-IN" b="1" dirty="0">
                <a:latin typeface="Baskerville Old Face" panose="02020602080505020303" pitchFamily="18" charset="0"/>
              </a:rPr>
              <a:t>one-to-many relationships with single-direction filtering</a:t>
            </a:r>
            <a:r>
              <a:rPr lang="en-IN" dirty="0">
                <a:latin typeface="Baskerville Old Face" panose="02020602080505020303" pitchFamily="18" charset="0"/>
              </a:rPr>
              <a:t>, allowing information to flow from the dimension tables toward the sales data.</a:t>
            </a:r>
          </a:p>
          <a:p>
            <a:pPr>
              <a:lnSpc>
                <a:spcPct val="150000"/>
              </a:lnSpc>
              <a:buNone/>
            </a:pPr>
            <a:endParaRPr lang="en-IN" dirty="0">
              <a:latin typeface="Baskerville Old Face" panose="02020602080505020303" pitchFamily="18" charset="0"/>
            </a:endParaRPr>
          </a:p>
        </p:txBody>
      </p:sp>
    </p:spTree>
    <p:extLst>
      <p:ext uri="{BB962C8B-B14F-4D97-AF65-F5344CB8AC3E}">
        <p14:creationId xmlns:p14="http://schemas.microsoft.com/office/powerpoint/2010/main" val="135725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B07A5-41DC-A84C-BF4B-575BEE986269}"/>
              </a:ext>
            </a:extLst>
          </p:cNvPr>
          <p:cNvSpPr>
            <a:spLocks noGrp="1"/>
          </p:cNvSpPr>
          <p:nvPr>
            <p:ph type="ctrTitle"/>
          </p:nvPr>
        </p:nvSpPr>
        <p:spPr>
          <a:xfrm>
            <a:off x="0" y="0"/>
            <a:ext cx="9770533" cy="841904"/>
          </a:xfrm>
        </p:spPr>
        <p:txBody>
          <a:bodyPr>
            <a:normAutofit/>
          </a:bodyPr>
          <a:lstStyle/>
          <a:p>
            <a:r>
              <a:rPr lang="en-IN" sz="4000" b="1" dirty="0">
                <a:solidFill>
                  <a:srgbClr val="FF0000"/>
                </a:solidFill>
                <a:latin typeface="Bahnschrift" panose="020B0502040204020203" pitchFamily="34" charset="0"/>
              </a:rPr>
              <a:t>DAX Measures &amp; Calculated Columns</a:t>
            </a:r>
          </a:p>
        </p:txBody>
      </p:sp>
      <p:pic>
        <p:nvPicPr>
          <p:cNvPr id="5" name="Picture 4">
            <a:extLst>
              <a:ext uri="{FF2B5EF4-FFF2-40B4-BE49-F238E27FC236}">
                <a16:creationId xmlns:a16="http://schemas.microsoft.com/office/drawing/2014/main" id="{9403FEE7-FA64-AD56-D3A9-D0862398B894}"/>
              </a:ext>
            </a:extLst>
          </p:cNvPr>
          <p:cNvPicPr>
            <a:picLocks noChangeAspect="1"/>
          </p:cNvPicPr>
          <p:nvPr/>
        </p:nvPicPr>
        <p:blipFill>
          <a:blip r:embed="rId2"/>
          <a:stretch>
            <a:fillRect/>
          </a:stretch>
        </p:blipFill>
        <p:spPr>
          <a:xfrm>
            <a:off x="8263467" y="1811867"/>
            <a:ext cx="3214535" cy="3014133"/>
          </a:xfrm>
          <a:prstGeom prst="rect">
            <a:avLst/>
          </a:prstGeom>
        </p:spPr>
      </p:pic>
      <p:sp>
        <p:nvSpPr>
          <p:cNvPr id="9" name="TextBox 8">
            <a:extLst>
              <a:ext uri="{FF2B5EF4-FFF2-40B4-BE49-F238E27FC236}">
                <a16:creationId xmlns:a16="http://schemas.microsoft.com/office/drawing/2014/main" id="{C285189D-B003-4220-2517-0E763815E9AB}"/>
              </a:ext>
            </a:extLst>
          </p:cNvPr>
          <p:cNvSpPr txBox="1"/>
          <p:nvPr/>
        </p:nvSpPr>
        <p:spPr>
          <a:xfrm>
            <a:off x="524933" y="1073203"/>
            <a:ext cx="6096000" cy="1200329"/>
          </a:xfrm>
          <a:prstGeom prst="rect">
            <a:avLst/>
          </a:prstGeom>
          <a:noFill/>
        </p:spPr>
        <p:txBody>
          <a:bodyPr wrap="square">
            <a:spAutoFit/>
          </a:bodyPr>
          <a:lstStyle/>
          <a:p>
            <a:r>
              <a:rPr lang="en-IN" sz="1800" dirty="0">
                <a:latin typeface="Baskerville Old Face" panose="02020602080505020303" pitchFamily="18" charset="0"/>
              </a:rPr>
              <a:t>DAX (Data Analysis Expressions) was used in Power BI to create dynamic measures for the dashboard. These measures automatically respond to the selected filters and provide the required business calculations</a:t>
            </a:r>
          </a:p>
        </p:txBody>
      </p:sp>
      <p:pic>
        <p:nvPicPr>
          <p:cNvPr id="11" name="Picture 10">
            <a:extLst>
              <a:ext uri="{FF2B5EF4-FFF2-40B4-BE49-F238E27FC236}">
                <a16:creationId xmlns:a16="http://schemas.microsoft.com/office/drawing/2014/main" id="{AA675E3A-F333-F62B-4432-02CA5CB1F20B}"/>
              </a:ext>
            </a:extLst>
          </p:cNvPr>
          <p:cNvPicPr>
            <a:picLocks noChangeAspect="1"/>
          </p:cNvPicPr>
          <p:nvPr/>
        </p:nvPicPr>
        <p:blipFill>
          <a:blip r:embed="rId3"/>
          <a:srcRect t="24196" b="-1"/>
          <a:stretch>
            <a:fillRect/>
          </a:stretch>
        </p:blipFill>
        <p:spPr>
          <a:xfrm>
            <a:off x="842163" y="2934138"/>
            <a:ext cx="3631513" cy="319654"/>
          </a:xfrm>
          <a:prstGeom prst="rect">
            <a:avLst/>
          </a:prstGeom>
        </p:spPr>
      </p:pic>
      <p:pic>
        <p:nvPicPr>
          <p:cNvPr id="13" name="Picture 12">
            <a:extLst>
              <a:ext uri="{FF2B5EF4-FFF2-40B4-BE49-F238E27FC236}">
                <a16:creationId xmlns:a16="http://schemas.microsoft.com/office/drawing/2014/main" id="{6CC77F0F-1470-8947-1030-76B8EDD876DC}"/>
              </a:ext>
            </a:extLst>
          </p:cNvPr>
          <p:cNvPicPr>
            <a:picLocks noChangeAspect="1"/>
          </p:cNvPicPr>
          <p:nvPr/>
        </p:nvPicPr>
        <p:blipFill>
          <a:blip r:embed="rId4"/>
          <a:stretch>
            <a:fillRect/>
          </a:stretch>
        </p:blipFill>
        <p:spPr>
          <a:xfrm>
            <a:off x="5646238" y="4467374"/>
            <a:ext cx="2159144" cy="369290"/>
          </a:xfrm>
          <a:prstGeom prst="rect">
            <a:avLst/>
          </a:prstGeom>
        </p:spPr>
      </p:pic>
      <p:pic>
        <p:nvPicPr>
          <p:cNvPr id="15" name="Picture 14">
            <a:extLst>
              <a:ext uri="{FF2B5EF4-FFF2-40B4-BE49-F238E27FC236}">
                <a16:creationId xmlns:a16="http://schemas.microsoft.com/office/drawing/2014/main" id="{D3E78DD0-7D60-857E-798D-6EA9BCC36576}"/>
              </a:ext>
            </a:extLst>
          </p:cNvPr>
          <p:cNvPicPr>
            <a:picLocks noChangeAspect="1"/>
          </p:cNvPicPr>
          <p:nvPr/>
        </p:nvPicPr>
        <p:blipFill>
          <a:blip r:embed="rId5"/>
          <a:stretch>
            <a:fillRect/>
          </a:stretch>
        </p:blipFill>
        <p:spPr>
          <a:xfrm>
            <a:off x="4806527" y="2866818"/>
            <a:ext cx="3245510" cy="1264119"/>
          </a:xfrm>
          <a:prstGeom prst="rect">
            <a:avLst/>
          </a:prstGeom>
        </p:spPr>
      </p:pic>
      <p:pic>
        <p:nvPicPr>
          <p:cNvPr id="17" name="Picture 16">
            <a:extLst>
              <a:ext uri="{FF2B5EF4-FFF2-40B4-BE49-F238E27FC236}">
                <a16:creationId xmlns:a16="http://schemas.microsoft.com/office/drawing/2014/main" id="{CD2EF696-3BB3-F0F5-F31B-225A419ECFE5}"/>
              </a:ext>
            </a:extLst>
          </p:cNvPr>
          <p:cNvPicPr>
            <a:picLocks noChangeAspect="1"/>
          </p:cNvPicPr>
          <p:nvPr/>
        </p:nvPicPr>
        <p:blipFill>
          <a:blip r:embed="rId6"/>
          <a:stretch>
            <a:fillRect/>
          </a:stretch>
        </p:blipFill>
        <p:spPr>
          <a:xfrm>
            <a:off x="842164" y="4074725"/>
            <a:ext cx="3510090" cy="343496"/>
          </a:xfrm>
          <a:prstGeom prst="rect">
            <a:avLst/>
          </a:prstGeom>
        </p:spPr>
      </p:pic>
      <p:pic>
        <p:nvPicPr>
          <p:cNvPr id="19" name="Picture 18">
            <a:extLst>
              <a:ext uri="{FF2B5EF4-FFF2-40B4-BE49-F238E27FC236}">
                <a16:creationId xmlns:a16="http://schemas.microsoft.com/office/drawing/2014/main" id="{E4F2597C-C974-CBAF-3D51-5DDC5684B17F}"/>
              </a:ext>
            </a:extLst>
          </p:cNvPr>
          <p:cNvPicPr>
            <a:picLocks noChangeAspect="1"/>
          </p:cNvPicPr>
          <p:nvPr/>
        </p:nvPicPr>
        <p:blipFill>
          <a:blip r:embed="rId7"/>
          <a:stretch>
            <a:fillRect/>
          </a:stretch>
        </p:blipFill>
        <p:spPr>
          <a:xfrm>
            <a:off x="796439" y="3429000"/>
            <a:ext cx="3510090" cy="470517"/>
          </a:xfrm>
          <a:prstGeom prst="rect">
            <a:avLst/>
          </a:prstGeom>
        </p:spPr>
      </p:pic>
      <p:pic>
        <p:nvPicPr>
          <p:cNvPr id="21" name="Picture 20">
            <a:extLst>
              <a:ext uri="{FF2B5EF4-FFF2-40B4-BE49-F238E27FC236}">
                <a16:creationId xmlns:a16="http://schemas.microsoft.com/office/drawing/2014/main" id="{5264AF0F-B03B-C649-F328-67540CD1D090}"/>
              </a:ext>
            </a:extLst>
          </p:cNvPr>
          <p:cNvPicPr>
            <a:picLocks noChangeAspect="1"/>
          </p:cNvPicPr>
          <p:nvPr/>
        </p:nvPicPr>
        <p:blipFill>
          <a:blip r:embed="rId8"/>
          <a:stretch>
            <a:fillRect/>
          </a:stretch>
        </p:blipFill>
        <p:spPr>
          <a:xfrm>
            <a:off x="842164" y="5173102"/>
            <a:ext cx="4949036" cy="369290"/>
          </a:xfrm>
          <a:prstGeom prst="rect">
            <a:avLst/>
          </a:prstGeom>
        </p:spPr>
      </p:pic>
      <p:pic>
        <p:nvPicPr>
          <p:cNvPr id="23" name="Picture 22">
            <a:extLst>
              <a:ext uri="{FF2B5EF4-FFF2-40B4-BE49-F238E27FC236}">
                <a16:creationId xmlns:a16="http://schemas.microsoft.com/office/drawing/2014/main" id="{851130DD-7800-953B-6E73-3F1B0BD3DD21}"/>
              </a:ext>
            </a:extLst>
          </p:cNvPr>
          <p:cNvPicPr>
            <a:picLocks noChangeAspect="1"/>
          </p:cNvPicPr>
          <p:nvPr/>
        </p:nvPicPr>
        <p:blipFill>
          <a:blip r:embed="rId9"/>
          <a:stretch>
            <a:fillRect/>
          </a:stretch>
        </p:blipFill>
        <p:spPr>
          <a:xfrm>
            <a:off x="842163" y="4623913"/>
            <a:ext cx="4241113" cy="343496"/>
          </a:xfrm>
          <a:prstGeom prst="rect">
            <a:avLst/>
          </a:prstGeom>
        </p:spPr>
      </p:pic>
    </p:spTree>
    <p:extLst>
      <p:ext uri="{BB962C8B-B14F-4D97-AF65-F5344CB8AC3E}">
        <p14:creationId xmlns:p14="http://schemas.microsoft.com/office/powerpoint/2010/main" val="91284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85FDCF-0955-1EC3-EE49-AC34B7B1F369}"/>
              </a:ext>
            </a:extLst>
          </p:cNvPr>
          <p:cNvSpPr txBox="1"/>
          <p:nvPr/>
        </p:nvSpPr>
        <p:spPr>
          <a:xfrm>
            <a:off x="440266" y="163419"/>
            <a:ext cx="8906934" cy="523220"/>
          </a:xfrm>
          <a:prstGeom prst="rect">
            <a:avLst/>
          </a:prstGeom>
          <a:noFill/>
        </p:spPr>
        <p:txBody>
          <a:bodyPr wrap="square">
            <a:spAutoFit/>
          </a:bodyPr>
          <a:lstStyle/>
          <a:p>
            <a:r>
              <a:rPr lang="en-IN" sz="2800" b="1" dirty="0">
                <a:solidFill>
                  <a:srgbClr val="FF0000"/>
                </a:solidFill>
                <a:latin typeface="Bahnschrift" panose="020B0502040204020203" pitchFamily="34" charset="0"/>
              </a:rPr>
              <a:t>DASHBOARD DESIGN &amp; VISUALIZATIONS</a:t>
            </a:r>
          </a:p>
        </p:txBody>
      </p:sp>
      <p:pic>
        <p:nvPicPr>
          <p:cNvPr id="5" name="Picture 4">
            <a:extLst>
              <a:ext uri="{FF2B5EF4-FFF2-40B4-BE49-F238E27FC236}">
                <a16:creationId xmlns:a16="http://schemas.microsoft.com/office/drawing/2014/main" id="{02A274E0-DACF-DD79-AF83-D02353EC08E9}"/>
              </a:ext>
            </a:extLst>
          </p:cNvPr>
          <p:cNvPicPr>
            <a:picLocks noChangeAspect="1"/>
          </p:cNvPicPr>
          <p:nvPr/>
        </p:nvPicPr>
        <p:blipFill>
          <a:blip r:embed="rId2"/>
          <a:stretch>
            <a:fillRect/>
          </a:stretch>
        </p:blipFill>
        <p:spPr>
          <a:xfrm>
            <a:off x="943595" y="919665"/>
            <a:ext cx="9588939" cy="5251696"/>
          </a:xfrm>
          <a:prstGeom prst="rect">
            <a:avLst/>
          </a:prstGeom>
        </p:spPr>
      </p:pic>
    </p:spTree>
    <p:extLst>
      <p:ext uri="{BB962C8B-B14F-4D97-AF65-F5344CB8AC3E}">
        <p14:creationId xmlns:p14="http://schemas.microsoft.com/office/powerpoint/2010/main" val="17236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F42839-B8F7-204B-B055-8B23AD247B7E}"/>
              </a:ext>
            </a:extLst>
          </p:cNvPr>
          <p:cNvPicPr>
            <a:picLocks noChangeAspect="1"/>
          </p:cNvPicPr>
          <p:nvPr/>
        </p:nvPicPr>
        <p:blipFill>
          <a:blip r:embed="rId2"/>
          <a:stretch>
            <a:fillRect/>
          </a:stretch>
        </p:blipFill>
        <p:spPr>
          <a:xfrm>
            <a:off x="1009209" y="582683"/>
            <a:ext cx="10173582" cy="5692633"/>
          </a:xfrm>
          <a:prstGeom prst="rect">
            <a:avLst/>
          </a:prstGeom>
        </p:spPr>
      </p:pic>
    </p:spTree>
    <p:extLst>
      <p:ext uri="{BB962C8B-B14F-4D97-AF65-F5344CB8AC3E}">
        <p14:creationId xmlns:p14="http://schemas.microsoft.com/office/powerpoint/2010/main" val="4228858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8B0EA6-A90A-63E2-9E12-9A9DD67080CB}"/>
              </a:ext>
            </a:extLst>
          </p:cNvPr>
          <p:cNvPicPr>
            <a:picLocks noChangeAspect="1"/>
          </p:cNvPicPr>
          <p:nvPr/>
        </p:nvPicPr>
        <p:blipFill>
          <a:blip r:embed="rId2"/>
          <a:stretch>
            <a:fillRect/>
          </a:stretch>
        </p:blipFill>
        <p:spPr>
          <a:xfrm>
            <a:off x="657460" y="806675"/>
            <a:ext cx="8457044" cy="4890687"/>
          </a:xfrm>
          <a:prstGeom prst="rect">
            <a:avLst/>
          </a:prstGeom>
        </p:spPr>
      </p:pic>
      <p:sp>
        <p:nvSpPr>
          <p:cNvPr id="5" name="TextBox 4">
            <a:extLst>
              <a:ext uri="{FF2B5EF4-FFF2-40B4-BE49-F238E27FC236}">
                <a16:creationId xmlns:a16="http://schemas.microsoft.com/office/drawing/2014/main" id="{58F8065D-05D4-B522-BCF7-9D06887FFF64}"/>
              </a:ext>
            </a:extLst>
          </p:cNvPr>
          <p:cNvSpPr txBox="1"/>
          <p:nvPr/>
        </p:nvSpPr>
        <p:spPr>
          <a:xfrm>
            <a:off x="9340644" y="291595"/>
            <a:ext cx="2330245" cy="5724644"/>
          </a:xfrm>
          <a:prstGeom prst="rect">
            <a:avLst/>
          </a:prstGeom>
          <a:noFill/>
        </p:spPr>
        <p:txBody>
          <a:bodyPr wrap="square">
            <a:spAutoFit/>
          </a:bodyPr>
          <a:lstStyle/>
          <a:p>
            <a:pPr>
              <a:buNone/>
            </a:pPr>
            <a:r>
              <a:rPr lang="en-IN" sz="3200" b="1" dirty="0">
                <a:solidFill>
                  <a:srgbClr val="FF0000"/>
                </a:solidFill>
                <a:latin typeface="Bahnschrift" panose="020B0502040204020203" pitchFamily="34" charset="0"/>
              </a:rPr>
              <a:t>Key Takeaways</a:t>
            </a:r>
          </a:p>
          <a:p>
            <a:pPr>
              <a:buNone/>
            </a:pPr>
            <a:endParaRPr lang="en-IN" sz="3200" b="1" dirty="0">
              <a:solidFill>
                <a:srgbClr val="FF0000"/>
              </a:solidFill>
            </a:endParaRPr>
          </a:p>
          <a:p>
            <a:pPr>
              <a:buNone/>
            </a:pPr>
            <a:r>
              <a:rPr lang="en-IN" sz="1800" b="1" dirty="0">
                <a:latin typeface="Baskerville Old Face" panose="02020602080505020303" pitchFamily="18" charset="0"/>
              </a:rPr>
              <a:t>Highest Category:</a:t>
            </a:r>
            <a:r>
              <a:rPr lang="en-IN" sz="1800" dirty="0">
                <a:latin typeface="Baskerville Old Face" panose="02020602080505020303" pitchFamily="18" charset="0"/>
              </a:rPr>
              <a:t> Fruits &amp; Vegetables — ~178K</a:t>
            </a:r>
            <a:br>
              <a:rPr lang="en-IN" sz="1800" dirty="0">
                <a:latin typeface="Baskerville Old Face" panose="02020602080505020303" pitchFamily="18" charset="0"/>
              </a:rPr>
            </a:br>
            <a:r>
              <a:rPr lang="en-IN" sz="1800" b="1" dirty="0">
                <a:latin typeface="Baskerville Old Face" panose="02020602080505020303" pitchFamily="18" charset="0"/>
              </a:rPr>
              <a:t>Highest Outlet Type:</a:t>
            </a:r>
            <a:r>
              <a:rPr lang="en-IN" sz="1800" dirty="0">
                <a:latin typeface="Baskerville Old Face" panose="02020602080505020303" pitchFamily="18" charset="0"/>
              </a:rPr>
              <a:t> Supermarket Type1 — ~788K</a:t>
            </a:r>
            <a:br>
              <a:rPr lang="en-IN" sz="1800" dirty="0">
                <a:latin typeface="Baskerville Old Face" panose="02020602080505020303" pitchFamily="18" charset="0"/>
              </a:rPr>
            </a:br>
            <a:r>
              <a:rPr lang="en-IN" sz="1800" b="1" dirty="0">
                <a:latin typeface="Baskerville Old Face" panose="02020602080505020303" pitchFamily="18" charset="0"/>
              </a:rPr>
              <a:t>Highest Location Tier:</a:t>
            </a:r>
            <a:r>
              <a:rPr lang="en-IN" sz="1800" dirty="0">
                <a:latin typeface="Baskerville Old Face" panose="02020602080505020303" pitchFamily="18" charset="0"/>
              </a:rPr>
              <a:t> Tier 3 — ~0.47M</a:t>
            </a:r>
            <a:br>
              <a:rPr lang="en-IN" sz="1800" dirty="0">
                <a:latin typeface="Baskerville Old Face" panose="02020602080505020303" pitchFamily="18" charset="0"/>
              </a:rPr>
            </a:br>
            <a:r>
              <a:rPr lang="en-IN" sz="1800" b="1" dirty="0">
                <a:latin typeface="Baskerville Old Face" panose="02020602080505020303" pitchFamily="18" charset="0"/>
              </a:rPr>
              <a:t>Leading Fat Content:</a:t>
            </a:r>
            <a:r>
              <a:rPr lang="en-IN" sz="1800" dirty="0">
                <a:latin typeface="Baskerville Old Face" panose="02020602080505020303" pitchFamily="18" charset="0"/>
              </a:rPr>
              <a:t> Low Fat — 64.6% of sales</a:t>
            </a:r>
            <a:br>
              <a:rPr lang="en-IN" sz="1800" dirty="0">
                <a:latin typeface="Baskerville Old Face" panose="02020602080505020303" pitchFamily="18" charset="0"/>
              </a:rPr>
            </a:br>
            <a:r>
              <a:rPr lang="en-IN" sz="1800" b="1" dirty="0">
                <a:latin typeface="Baskerville Old Face" panose="02020602080505020303" pitchFamily="18" charset="0"/>
              </a:rPr>
              <a:t>Average Rating:</a:t>
            </a:r>
            <a:r>
              <a:rPr lang="en-IN" sz="1800" dirty="0">
                <a:latin typeface="Baskerville Old Face" panose="02020602080505020303" pitchFamily="18" charset="0"/>
              </a:rPr>
              <a:t> ~3.92</a:t>
            </a:r>
            <a:br>
              <a:rPr lang="en-IN" sz="1800" dirty="0">
                <a:latin typeface="Baskerville Old Face" panose="02020602080505020303" pitchFamily="18" charset="0"/>
              </a:rPr>
            </a:br>
            <a:r>
              <a:rPr lang="en-IN" sz="1800" b="1" dirty="0">
                <a:latin typeface="Baskerville Old Face" panose="02020602080505020303" pitchFamily="18" charset="0"/>
              </a:rPr>
              <a:t>Average Sales per Outlet:</a:t>
            </a:r>
            <a:r>
              <a:rPr lang="en-IN" sz="1800" dirty="0">
                <a:latin typeface="Baskerville Old Face" panose="02020602080505020303" pitchFamily="18" charset="0"/>
              </a:rPr>
              <a:t> ~75.11K</a:t>
            </a:r>
            <a:br>
              <a:rPr lang="en-IN" sz="1800" dirty="0">
                <a:latin typeface="Baskerville Old Face" panose="02020602080505020303" pitchFamily="18" charset="0"/>
              </a:rPr>
            </a:br>
            <a:r>
              <a:rPr lang="en-IN" sz="1800" b="1" dirty="0">
                <a:latin typeface="Baskerville Old Face" panose="02020602080505020303" pitchFamily="18" charset="0"/>
              </a:rPr>
              <a:t>Sales per Kg:</a:t>
            </a:r>
            <a:r>
              <a:rPr lang="en-IN" sz="1800" dirty="0">
                <a:latin typeface="Baskerville Old Face" panose="02020602080505020303" pitchFamily="18" charset="0"/>
              </a:rPr>
              <a:t> ~13.24</a:t>
            </a:r>
          </a:p>
        </p:txBody>
      </p:sp>
    </p:spTree>
    <p:extLst>
      <p:ext uri="{BB962C8B-B14F-4D97-AF65-F5344CB8AC3E}">
        <p14:creationId xmlns:p14="http://schemas.microsoft.com/office/powerpoint/2010/main" val="1305604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663C7-2062-840E-ACE4-446984F35923}"/>
              </a:ext>
            </a:extLst>
          </p:cNvPr>
          <p:cNvSpPr>
            <a:spLocks noGrp="1"/>
          </p:cNvSpPr>
          <p:nvPr>
            <p:ph type="title"/>
          </p:nvPr>
        </p:nvSpPr>
        <p:spPr>
          <a:xfrm>
            <a:off x="6112934" y="4309533"/>
            <a:ext cx="4893733" cy="1325563"/>
          </a:xfrm>
        </p:spPr>
        <p:txBody>
          <a:bodyPr/>
          <a:lstStyle/>
          <a:p>
            <a:r>
              <a:rPr lang="en-IN" b="1" dirty="0">
                <a:solidFill>
                  <a:srgbClr val="FF0000"/>
                </a:solidFill>
                <a:latin typeface="Bahnschrift" panose="020B0502040204020203" pitchFamily="34" charset="0"/>
              </a:rPr>
              <a:t>Recommendations</a:t>
            </a:r>
          </a:p>
        </p:txBody>
      </p:sp>
      <p:sp>
        <p:nvSpPr>
          <p:cNvPr id="4" name="TextBox 3">
            <a:extLst>
              <a:ext uri="{FF2B5EF4-FFF2-40B4-BE49-F238E27FC236}">
                <a16:creationId xmlns:a16="http://schemas.microsoft.com/office/drawing/2014/main" id="{E87D989A-C5F7-25A4-B913-DE5F428F3C67}"/>
              </a:ext>
            </a:extLst>
          </p:cNvPr>
          <p:cNvSpPr txBox="1"/>
          <p:nvPr/>
        </p:nvSpPr>
        <p:spPr>
          <a:xfrm>
            <a:off x="523404" y="1485808"/>
            <a:ext cx="4031664" cy="70173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a:lnSpc>
                <a:spcPct val="90000"/>
              </a:lnSpc>
              <a:buClr>
                <a:schemeClr val="dk1"/>
              </a:buClr>
              <a:buSzPts val="1800"/>
              <a:buFont typeface="Calibri"/>
              <a:buNone/>
              <a:defRPr sz="4400" b="1">
                <a:solidFill>
                  <a:srgbClr val="FF0000"/>
                </a:solidFill>
                <a:latin typeface="Bahnschrift" panose="020B0502040204020203" pitchFamily="34" charset="0"/>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IN" dirty="0"/>
              <a:t>Key Conclusion</a:t>
            </a:r>
          </a:p>
        </p:txBody>
      </p:sp>
      <p:sp>
        <p:nvSpPr>
          <p:cNvPr id="6" name="TextBox 5">
            <a:extLst>
              <a:ext uri="{FF2B5EF4-FFF2-40B4-BE49-F238E27FC236}">
                <a16:creationId xmlns:a16="http://schemas.microsoft.com/office/drawing/2014/main" id="{88999D89-6EA5-5597-E355-A08109469650}"/>
              </a:ext>
            </a:extLst>
          </p:cNvPr>
          <p:cNvSpPr txBox="1"/>
          <p:nvPr/>
        </p:nvSpPr>
        <p:spPr>
          <a:xfrm>
            <a:off x="5617634" y="499834"/>
            <a:ext cx="6096000" cy="3375411"/>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Total sales of approximately </a:t>
            </a:r>
            <a:r>
              <a:rPr lang="en-IN" sz="1800" b="1" dirty="0">
                <a:latin typeface="Baskerville Old Face" panose="02020602080505020303" pitchFamily="18" charset="0"/>
              </a:rPr>
              <a:t>1.20M</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b="1" dirty="0">
                <a:latin typeface="Baskerville Old Face" panose="02020602080505020303" pitchFamily="18" charset="0"/>
              </a:rPr>
              <a:t>Fruits &amp; Vegetables</a:t>
            </a:r>
            <a:r>
              <a:rPr lang="en-IN" sz="1800" dirty="0">
                <a:latin typeface="Baskerville Old Face" panose="02020602080505020303" pitchFamily="18" charset="0"/>
              </a:rPr>
              <a:t> is the highest-selling category</a:t>
            </a:r>
          </a:p>
          <a:p>
            <a:pPr marL="342900" lvl="0" indent="-342900">
              <a:lnSpc>
                <a:spcPct val="150000"/>
              </a:lnSpc>
              <a:buFont typeface="Arial" panose="020B0604020202020204" pitchFamily="34" charset="0"/>
              <a:buChar char="•"/>
            </a:pPr>
            <a:r>
              <a:rPr lang="en-IN" sz="1800" b="1" dirty="0">
                <a:latin typeface="Baskerville Old Face" panose="02020602080505020303" pitchFamily="18" charset="0"/>
              </a:rPr>
              <a:t>Supermarket Type1</a:t>
            </a:r>
            <a:r>
              <a:rPr lang="en-IN" sz="1800" dirty="0">
                <a:latin typeface="Baskerville Old Face" panose="02020602080505020303" pitchFamily="18" charset="0"/>
              </a:rPr>
              <a:t> contributes the highest outlet-type sales</a:t>
            </a:r>
          </a:p>
          <a:p>
            <a:pPr marL="342900" lvl="0" indent="-342900">
              <a:lnSpc>
                <a:spcPct val="150000"/>
              </a:lnSpc>
              <a:buFont typeface="Arial" panose="020B0604020202020204" pitchFamily="34" charset="0"/>
              <a:buChar char="•"/>
            </a:pPr>
            <a:r>
              <a:rPr lang="en-IN" sz="1800" b="1" dirty="0">
                <a:latin typeface="Baskerville Old Face" panose="02020602080505020303" pitchFamily="18" charset="0"/>
              </a:rPr>
              <a:t>Tier 3</a:t>
            </a:r>
            <a:r>
              <a:rPr lang="en-IN" sz="1800" dirty="0">
                <a:latin typeface="Baskerville Old Face" panose="02020602080505020303" pitchFamily="18" charset="0"/>
              </a:rPr>
              <a:t> outlets generate the highest sales</a:t>
            </a:r>
          </a:p>
          <a:p>
            <a:pPr marL="342900" lvl="0" indent="-342900">
              <a:lnSpc>
                <a:spcPct val="150000"/>
              </a:lnSpc>
              <a:buFont typeface="Arial" panose="020B0604020202020204" pitchFamily="34" charset="0"/>
              <a:buChar char="•"/>
            </a:pPr>
            <a:r>
              <a:rPr lang="en-IN" sz="1800" b="1" dirty="0">
                <a:latin typeface="Baskerville Old Face" panose="02020602080505020303" pitchFamily="18" charset="0"/>
              </a:rPr>
              <a:t>Low Fat</a:t>
            </a:r>
            <a:r>
              <a:rPr lang="en-IN" sz="1800" dirty="0">
                <a:latin typeface="Baskerville Old Face" panose="02020602080505020303" pitchFamily="18" charset="0"/>
              </a:rPr>
              <a:t> products contribute </a:t>
            </a:r>
            <a:r>
              <a:rPr lang="en-IN" sz="1800" b="1" dirty="0">
                <a:latin typeface="Baskerville Old Face" panose="02020602080505020303" pitchFamily="18" charset="0"/>
              </a:rPr>
              <a:t>64.6% of total sales</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Average item rating is approximately </a:t>
            </a:r>
            <a:r>
              <a:rPr lang="en-IN" sz="1800" b="1" dirty="0">
                <a:latin typeface="Baskerville Old Face" panose="02020602080505020303" pitchFamily="18" charset="0"/>
              </a:rPr>
              <a:t>3.92</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Dashboard provides interactive </a:t>
            </a:r>
            <a:r>
              <a:rPr lang="en-IN" sz="1800" b="1" dirty="0">
                <a:latin typeface="Baskerville Old Face" panose="02020602080505020303" pitchFamily="18" charset="0"/>
              </a:rPr>
              <a:t>product and outlet-level analysis</a:t>
            </a:r>
            <a:endParaRPr lang="en-IN" sz="1800" dirty="0">
              <a:latin typeface="Baskerville Old Face" panose="02020602080505020303" pitchFamily="18" charset="0"/>
            </a:endParaRPr>
          </a:p>
        </p:txBody>
      </p:sp>
      <p:sp>
        <p:nvSpPr>
          <p:cNvPr id="7" name="TextBox 6">
            <a:extLst>
              <a:ext uri="{FF2B5EF4-FFF2-40B4-BE49-F238E27FC236}">
                <a16:creationId xmlns:a16="http://schemas.microsoft.com/office/drawing/2014/main" id="{4869B530-AF6F-EA34-6B5A-6E01639B7704}"/>
              </a:ext>
            </a:extLst>
          </p:cNvPr>
          <p:cNvSpPr txBox="1"/>
          <p:nvPr/>
        </p:nvSpPr>
        <p:spPr>
          <a:xfrm>
            <a:off x="651933" y="2935573"/>
            <a:ext cx="4399608" cy="3790910"/>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800" dirty="0">
                <a:latin typeface="Baskerville Old Face" panose="02020602080505020303" pitchFamily="18" charset="0"/>
              </a:rPr>
              <a:t>Focus on high-performing product categories</a:t>
            </a:r>
          </a:p>
          <a:p>
            <a:pPr marL="285750" lvl="0" indent="-285750">
              <a:lnSpc>
                <a:spcPct val="150000"/>
              </a:lnSpc>
              <a:buFont typeface="Arial" panose="020B0604020202020204" pitchFamily="34" charset="0"/>
              <a:buChar char="•"/>
            </a:pPr>
            <a:r>
              <a:rPr lang="en-IN" sz="1800" dirty="0" err="1">
                <a:latin typeface="Baskerville Old Face" panose="02020602080505020303" pitchFamily="18" charset="0"/>
              </a:rPr>
              <a:t>Analyze</a:t>
            </a:r>
            <a:r>
              <a:rPr lang="en-IN" sz="1800" dirty="0">
                <a:latin typeface="Baskerville Old Face" panose="02020602080505020303" pitchFamily="18" charset="0"/>
              </a:rPr>
              <a:t> factors behind strong </a:t>
            </a:r>
            <a:r>
              <a:rPr lang="en-IN" sz="1800" b="1" dirty="0">
                <a:latin typeface="Baskerville Old Face" panose="02020602080505020303" pitchFamily="18" charset="0"/>
              </a:rPr>
              <a:t>Tier 3</a:t>
            </a:r>
            <a:r>
              <a:rPr lang="en-IN" sz="1800" dirty="0">
                <a:latin typeface="Baskerville Old Face" panose="02020602080505020303" pitchFamily="18" charset="0"/>
              </a:rPr>
              <a:t> performance</a:t>
            </a:r>
          </a:p>
          <a:p>
            <a:pPr marL="285750" lvl="0" indent="-285750">
              <a:lnSpc>
                <a:spcPct val="150000"/>
              </a:lnSpc>
              <a:buFont typeface="Arial" panose="020B0604020202020204" pitchFamily="34" charset="0"/>
              <a:buChar char="•"/>
            </a:pPr>
            <a:r>
              <a:rPr lang="en-IN" sz="1800" dirty="0">
                <a:latin typeface="Baskerville Old Face" panose="02020602080505020303" pitchFamily="18" charset="0"/>
              </a:rPr>
              <a:t>Maintain effective product assortment for </a:t>
            </a:r>
            <a:r>
              <a:rPr lang="en-IN" sz="1800" b="1" dirty="0">
                <a:latin typeface="Baskerville Old Face" panose="02020602080505020303" pitchFamily="18" charset="0"/>
              </a:rPr>
              <a:t>Low Fat</a:t>
            </a:r>
            <a:r>
              <a:rPr lang="en-IN" sz="1800" dirty="0">
                <a:latin typeface="Baskerville Old Face" panose="02020602080505020303" pitchFamily="18" charset="0"/>
              </a:rPr>
              <a:t> products</a:t>
            </a:r>
          </a:p>
          <a:p>
            <a:pPr marL="285750" lvl="0" indent="-285750">
              <a:lnSpc>
                <a:spcPct val="150000"/>
              </a:lnSpc>
              <a:buFont typeface="Arial" panose="020B0604020202020204" pitchFamily="34" charset="0"/>
              <a:buChar char="•"/>
            </a:pPr>
            <a:r>
              <a:rPr lang="en-IN" sz="1800" dirty="0">
                <a:latin typeface="Baskerville Old Face" panose="02020602080505020303" pitchFamily="18" charset="0"/>
              </a:rPr>
              <a:t>Review lower-performing outlets/categories for improvement</a:t>
            </a:r>
          </a:p>
          <a:p>
            <a:pPr marL="285750" indent="-285750">
              <a:lnSpc>
                <a:spcPct val="150000"/>
              </a:lnSpc>
              <a:buFont typeface="Arial" panose="020B0604020202020204" pitchFamily="34" charset="0"/>
              <a:buChar char="•"/>
            </a:pPr>
            <a:endParaRPr lang="en-IN" sz="1800" dirty="0">
              <a:latin typeface="Baskerville Old Face" panose="02020602080505020303" pitchFamily="18" charset="0"/>
            </a:endParaRPr>
          </a:p>
        </p:txBody>
      </p:sp>
      <p:cxnSp>
        <p:nvCxnSpPr>
          <p:cNvPr id="10" name="Connector: Curved 9">
            <a:extLst>
              <a:ext uri="{FF2B5EF4-FFF2-40B4-BE49-F238E27FC236}">
                <a16:creationId xmlns:a16="http://schemas.microsoft.com/office/drawing/2014/main" id="{E0A0E1CA-21C9-0E1E-29F2-F4831F9D08C8}"/>
              </a:ext>
            </a:extLst>
          </p:cNvPr>
          <p:cNvCxnSpPr>
            <a:cxnSpLocks/>
            <a:stCxn id="4" idx="3"/>
          </p:cNvCxnSpPr>
          <p:nvPr/>
        </p:nvCxnSpPr>
        <p:spPr>
          <a:xfrm flipV="1">
            <a:off x="4555068" y="829733"/>
            <a:ext cx="1062566" cy="1006941"/>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7BC7526F-5E7E-B894-AAED-BC703CBEE769}"/>
              </a:ext>
            </a:extLst>
          </p:cNvPr>
          <p:cNvCxnSpPr>
            <a:cxnSpLocks/>
            <a:stCxn id="4" idx="3"/>
          </p:cNvCxnSpPr>
          <p:nvPr/>
        </p:nvCxnSpPr>
        <p:spPr>
          <a:xfrm>
            <a:off x="4555068" y="1836674"/>
            <a:ext cx="1062566" cy="144839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DCF95F53-7AC2-ADEE-F3C2-A1B2BCDAD4F2}"/>
              </a:ext>
            </a:extLst>
          </p:cNvPr>
          <p:cNvCxnSpPr>
            <a:cxnSpLocks/>
            <a:endCxn id="2" idx="1"/>
          </p:cNvCxnSpPr>
          <p:nvPr/>
        </p:nvCxnSpPr>
        <p:spPr>
          <a:xfrm rot="16200000" flipH="1">
            <a:off x="4445083" y="3304464"/>
            <a:ext cx="1777836" cy="1557866"/>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C504BEDE-B985-1DB4-3582-BF97B1E28ED8}"/>
              </a:ext>
            </a:extLst>
          </p:cNvPr>
          <p:cNvCxnSpPr>
            <a:cxnSpLocks/>
            <a:stCxn id="2" idx="1"/>
          </p:cNvCxnSpPr>
          <p:nvPr/>
        </p:nvCxnSpPr>
        <p:spPr>
          <a:xfrm rot="10800000" flipV="1">
            <a:off x="4893738" y="4972314"/>
            <a:ext cx="1219197" cy="109706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658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D7428-74F8-8956-F3BB-ED78FF738D7F}"/>
              </a:ext>
            </a:extLst>
          </p:cNvPr>
          <p:cNvSpPr>
            <a:spLocks noGrp="1"/>
          </p:cNvSpPr>
          <p:nvPr>
            <p:ph type="title"/>
          </p:nvPr>
        </p:nvSpPr>
        <p:spPr>
          <a:xfrm>
            <a:off x="414867" y="314326"/>
            <a:ext cx="5410200" cy="938742"/>
          </a:xfrm>
        </p:spPr>
        <p:txBody>
          <a:bodyPr>
            <a:normAutofit/>
          </a:bodyPr>
          <a:lstStyle/>
          <a:p>
            <a:r>
              <a:rPr lang="en-IN" sz="3600" b="1" dirty="0">
                <a:solidFill>
                  <a:srgbClr val="FF0000"/>
                </a:solidFill>
                <a:latin typeface="Bahnschrift" panose="020B0502040204020203" pitchFamily="34" charset="0"/>
              </a:rPr>
              <a:t>CHALLENGES FACED</a:t>
            </a:r>
          </a:p>
        </p:txBody>
      </p:sp>
      <p:sp>
        <p:nvSpPr>
          <p:cNvPr id="4" name="TextBox 3">
            <a:extLst>
              <a:ext uri="{FF2B5EF4-FFF2-40B4-BE49-F238E27FC236}">
                <a16:creationId xmlns:a16="http://schemas.microsoft.com/office/drawing/2014/main" id="{AC79168A-0910-8E92-C412-C127544C655B}"/>
              </a:ext>
            </a:extLst>
          </p:cNvPr>
          <p:cNvSpPr txBox="1"/>
          <p:nvPr/>
        </p:nvSpPr>
        <p:spPr>
          <a:xfrm>
            <a:off x="5943602" y="161927"/>
            <a:ext cx="6096000" cy="1311128"/>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a:lnSpc>
                <a:spcPct val="90000"/>
              </a:lnSpc>
              <a:buClr>
                <a:schemeClr val="dk1"/>
              </a:buClr>
              <a:buSzPts val="1800"/>
              <a:buFont typeface="Calibri"/>
              <a:buNone/>
              <a:defRPr sz="4400" b="1">
                <a:solidFill>
                  <a:srgbClr val="FF0000"/>
                </a:solidFill>
                <a:latin typeface="Bahnschrift" panose="020B0502040204020203" pitchFamily="34" charset="0"/>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IN" sz="3600" dirty="0"/>
              <a:t>FUTURE IMPROVEMENTS</a:t>
            </a:r>
          </a:p>
        </p:txBody>
      </p:sp>
      <p:sp>
        <p:nvSpPr>
          <p:cNvPr id="6" name="TextBox 5">
            <a:extLst>
              <a:ext uri="{FF2B5EF4-FFF2-40B4-BE49-F238E27FC236}">
                <a16:creationId xmlns:a16="http://schemas.microsoft.com/office/drawing/2014/main" id="{AE9DE9DA-6550-E114-7117-7E195596A821}"/>
              </a:ext>
            </a:extLst>
          </p:cNvPr>
          <p:cNvSpPr txBox="1"/>
          <p:nvPr/>
        </p:nvSpPr>
        <p:spPr>
          <a:xfrm>
            <a:off x="694267" y="1253068"/>
            <a:ext cx="4334933" cy="512518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Handling </a:t>
            </a:r>
            <a:r>
              <a:rPr lang="en-IN" sz="2000" b="1" dirty="0">
                <a:latin typeface="Baskerville Old Face" panose="02020602080505020303" pitchFamily="18" charset="0"/>
              </a:rPr>
              <a:t>missing Item Weight</a:t>
            </a:r>
            <a:r>
              <a:rPr lang="en-IN" sz="2000" dirty="0">
                <a:latin typeface="Baskerville Old Face" panose="02020602080505020303" pitchFamily="18" charset="0"/>
              </a:rPr>
              <a:t> values</a:t>
            </a: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Standardizing inconsistent </a:t>
            </a:r>
            <a:r>
              <a:rPr lang="en-IN" sz="2000" b="1" dirty="0">
                <a:latin typeface="Baskerville Old Face" panose="02020602080505020303" pitchFamily="18" charset="0"/>
              </a:rPr>
              <a:t>Fat Content</a:t>
            </a:r>
            <a:r>
              <a:rPr lang="en-IN" sz="2000" dirty="0">
                <a:latin typeface="Baskerville Old Face" panose="02020602080505020303" pitchFamily="18" charset="0"/>
              </a:rPr>
              <a:t> values</a:t>
            </a: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Cleaning dimension tables and maintaining valid keys</a:t>
            </a: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Creating correct </a:t>
            </a:r>
            <a:r>
              <a:rPr lang="en-IN" sz="2000" b="1" dirty="0">
                <a:latin typeface="Baskerville Old Face" panose="02020602080505020303" pitchFamily="18" charset="0"/>
              </a:rPr>
              <a:t>table relationships</a:t>
            </a:r>
            <a:endParaRPr lang="en-IN" sz="20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Developing dynamic </a:t>
            </a:r>
            <a:r>
              <a:rPr lang="en-IN" sz="2000" b="1" dirty="0">
                <a:latin typeface="Baskerville Old Face" panose="02020602080505020303" pitchFamily="18" charset="0"/>
              </a:rPr>
              <a:t>DAX measures</a:t>
            </a:r>
            <a:endParaRPr lang="en-IN" sz="20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Designing multiple interactive dashboard pages</a:t>
            </a:r>
          </a:p>
          <a:p>
            <a:pPr marL="342900" lvl="0" indent="-342900">
              <a:lnSpc>
                <a:spcPct val="150000"/>
              </a:lnSpc>
              <a:buFont typeface="Arial" panose="020B0604020202020204" pitchFamily="34" charset="0"/>
              <a:buChar char="•"/>
            </a:pPr>
            <a:r>
              <a:rPr lang="en-IN" sz="2000" dirty="0">
                <a:latin typeface="Baskerville Old Face" panose="02020602080505020303" pitchFamily="18" charset="0"/>
              </a:rPr>
              <a:t>Choosing suitable visuals when some business metrics were unavailable</a:t>
            </a:r>
          </a:p>
        </p:txBody>
      </p:sp>
      <p:sp>
        <p:nvSpPr>
          <p:cNvPr id="8" name="TextBox 7">
            <a:extLst>
              <a:ext uri="{FF2B5EF4-FFF2-40B4-BE49-F238E27FC236}">
                <a16:creationId xmlns:a16="http://schemas.microsoft.com/office/drawing/2014/main" id="{3958B7C0-E26C-137E-EB1B-C030BD8E5F2A}"/>
              </a:ext>
            </a:extLst>
          </p:cNvPr>
          <p:cNvSpPr txBox="1"/>
          <p:nvPr/>
        </p:nvSpPr>
        <p:spPr>
          <a:xfrm>
            <a:off x="6096000" y="1439261"/>
            <a:ext cx="5130798" cy="420640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Add </a:t>
            </a:r>
            <a:r>
              <a:rPr lang="en-IN" sz="1800" b="1" dirty="0">
                <a:latin typeface="Baskerville Old Face" panose="02020602080505020303" pitchFamily="18" charset="0"/>
              </a:rPr>
              <a:t>transaction/order dates</a:t>
            </a:r>
            <a:r>
              <a:rPr lang="en-IN" sz="1800" dirty="0">
                <a:latin typeface="Baskerville Old Face" panose="02020602080505020303" pitchFamily="18" charset="0"/>
              </a:rPr>
              <a:t> for true sales trend analysis</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Add </a:t>
            </a:r>
            <a:r>
              <a:rPr lang="en-IN" sz="1800" b="1" dirty="0">
                <a:latin typeface="Baskerville Old Face" panose="02020602080505020303" pitchFamily="18" charset="0"/>
              </a:rPr>
              <a:t>Cost, COGS and Profit</a:t>
            </a:r>
            <a:r>
              <a:rPr lang="en-IN" sz="1800" dirty="0">
                <a:latin typeface="Baskerville Old Face" panose="02020602080505020303" pitchFamily="18" charset="0"/>
              </a:rPr>
              <a:t> data for profit-margin analysis</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Add </a:t>
            </a:r>
            <a:r>
              <a:rPr lang="en-IN" sz="1800" b="1" dirty="0">
                <a:latin typeface="Baskerville Old Face" panose="02020602080505020303" pitchFamily="18" charset="0"/>
              </a:rPr>
              <a:t>customer/order data</a:t>
            </a:r>
            <a:r>
              <a:rPr lang="en-IN" sz="1800" dirty="0">
                <a:latin typeface="Baskerville Old Face" panose="02020602080505020303" pitchFamily="18" charset="0"/>
              </a:rPr>
              <a:t> for conversion analysis</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Include more detailed </a:t>
            </a:r>
            <a:r>
              <a:rPr lang="en-IN" sz="1800" b="1" dirty="0">
                <a:latin typeface="Baskerville Old Face" panose="02020602080505020303" pitchFamily="18" charset="0"/>
              </a:rPr>
              <a:t>customer segmentation</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Add forecasting for future sales</a:t>
            </a: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Connect the dashboard to </a:t>
            </a:r>
            <a:r>
              <a:rPr lang="en-IN" sz="1800" b="1" dirty="0">
                <a:latin typeface="Baskerville Old Face" panose="02020602080505020303" pitchFamily="18" charset="0"/>
              </a:rPr>
              <a:t>real-time/updated data</a:t>
            </a:r>
            <a:endParaRPr lang="en-IN" sz="1800" dirty="0">
              <a:latin typeface="Baskerville Old Face" panose="02020602080505020303" pitchFamily="18" charset="0"/>
            </a:endParaRPr>
          </a:p>
          <a:p>
            <a:pPr marL="342900" lvl="0" indent="-342900">
              <a:lnSpc>
                <a:spcPct val="150000"/>
              </a:lnSpc>
              <a:buFont typeface="Arial" panose="020B0604020202020204" pitchFamily="34" charset="0"/>
              <a:buChar char="•"/>
            </a:pPr>
            <a:r>
              <a:rPr lang="en-IN" sz="1800" dirty="0">
                <a:latin typeface="Baskerville Old Face" panose="02020602080505020303" pitchFamily="18" charset="0"/>
              </a:rPr>
              <a:t>Develop deeper outlet and product performance analysis</a:t>
            </a:r>
          </a:p>
        </p:txBody>
      </p:sp>
    </p:spTree>
    <p:extLst>
      <p:ext uri="{BB962C8B-B14F-4D97-AF65-F5344CB8AC3E}">
        <p14:creationId xmlns:p14="http://schemas.microsoft.com/office/powerpoint/2010/main" val="1406330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DC12-E69B-878A-2890-AA536DBF3E0F}"/>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D6DDE3FC-1EBA-D5E5-5DC1-E11A87E1FC8E}"/>
              </a:ext>
            </a:extLst>
          </p:cNvPr>
          <p:cNvPicPr>
            <a:picLocks noChangeAspect="1"/>
          </p:cNvPicPr>
          <p:nvPr/>
        </p:nvPicPr>
        <p:blipFill>
          <a:blip r:embed="rId2"/>
          <a:stretch>
            <a:fillRect/>
          </a:stretch>
        </p:blipFill>
        <p:spPr>
          <a:xfrm>
            <a:off x="2684362" y="1593023"/>
            <a:ext cx="6021172" cy="3010586"/>
          </a:xfrm>
          <a:prstGeom prst="rect">
            <a:avLst/>
          </a:prstGeom>
        </p:spPr>
      </p:pic>
    </p:spTree>
    <p:extLst>
      <p:ext uri="{BB962C8B-B14F-4D97-AF65-F5344CB8AC3E}">
        <p14:creationId xmlns:p14="http://schemas.microsoft.com/office/powerpoint/2010/main" val="344913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1264</Words>
  <Application>Microsoft Office PowerPoint</Application>
  <PresentationFormat>Widescreen</PresentationFormat>
  <Paragraphs>132</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Baskerville Old Face</vt:lpstr>
      <vt:lpstr>Calibri</vt:lpstr>
      <vt:lpstr>Libre Baskerville</vt:lpstr>
      <vt:lpstr>Lato Black</vt:lpstr>
      <vt:lpstr>Bahnschrift</vt:lpstr>
      <vt:lpstr>Office Theme</vt:lpstr>
      <vt:lpstr>PowerPoint Presentation</vt:lpstr>
      <vt:lpstr>PowerPoint Presentation</vt:lpstr>
      <vt:lpstr>Agenda (This should be the PPT flow)  </vt:lpstr>
      <vt:lpstr>Business Problem Statement </vt:lpstr>
      <vt:lpstr>Project Objectives </vt:lpstr>
      <vt:lpstr>BUSINESS REQUIREMENTS</vt:lpstr>
      <vt:lpstr>PowerPoint Presentation</vt:lpstr>
      <vt:lpstr>DATA UNDERSTANDING </vt:lpstr>
      <vt:lpstr>Data Cleaning &amp; Transformation Using Power Query</vt:lpstr>
      <vt:lpstr>PowerPoint Presentation</vt:lpstr>
      <vt:lpstr>DAX Measures &amp; Calculated Columns</vt:lpstr>
      <vt:lpstr>PowerPoint Presentation</vt:lpstr>
      <vt:lpstr>PowerPoint Presentation</vt:lpstr>
      <vt:lpstr>PowerPoint Presentation</vt:lpstr>
      <vt:lpstr>Recommendations</vt:lpstr>
      <vt:lpstr>CHALLENGES FACED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NISHTHA VARLANI</cp:lastModifiedBy>
  <cp:revision>15</cp:revision>
  <dcterms:created xsi:type="dcterms:W3CDTF">2021-02-16T05:19:01Z</dcterms:created>
  <dcterms:modified xsi:type="dcterms:W3CDTF">2026-10-09T08:23:58Z</dcterms:modified>
</cp:coreProperties>
</file>